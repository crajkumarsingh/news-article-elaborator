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0"/>
            <a:ext cx="11430000" cy="548640"/>
          </a:xfrm>
          <a:prstGeom prst="rect">
            <a:avLst/>
          </a:prstGeom>
          <a:noFill/>
        </p:spPr>
        <p:txBody>
          <a:bodyPr wrap="square">
            <a:spAutoFit/>
          </a:bodyPr>
          <a:lstStyle/>
          <a:p>
            <a:pPr algn="ctr"/>
            <a:r>
              <a:rPr sz="1400" b="1" i="0">
                <a:solidFill>
                  <a:srgbClr val="0D9488"/>
                </a:solidFill>
              </a:rPr>
              <a:t>जन संवाददाता  |  JAN SAMVADDAATA</a:t>
            </a:r>
          </a:p>
        </p:txBody>
      </p:sp>
      <p:sp>
        <p:nvSpPr>
          <p:cNvPr id="5" name="TextBox 4"/>
          <p:cNvSpPr txBox="1"/>
          <p:nvPr/>
        </p:nvSpPr>
        <p:spPr>
          <a:xfrm>
            <a:off x="365760" y="822960"/>
            <a:ext cx="11430000" cy="365760"/>
          </a:xfrm>
          <a:prstGeom prst="rect">
            <a:avLst/>
          </a:prstGeom>
          <a:noFill/>
        </p:spPr>
        <p:txBody>
          <a:bodyPr wrap="square">
            <a:spAutoFit/>
          </a:bodyPr>
          <a:lstStyle/>
          <a:p>
            <a:pPr algn="ctr"/>
            <a:r>
              <a:rPr sz="1000" b="0" i="0">
                <a:solidFill>
                  <a:srgbClr val="B4BEC8"/>
                </a:solidFill>
              </a:rPr>
              <a:t>खोजी पत्रकारिता  |  INVESTIGATIVE JOURNALISM</a:t>
            </a:r>
          </a:p>
        </p:txBody>
      </p:sp>
      <p:sp>
        <p:nvSpPr>
          <p:cNvPr id="6" name="Rectangle 5"/>
          <p:cNvSpPr/>
          <p:nvPr/>
        </p:nvSpPr>
        <p:spPr>
          <a:xfrm>
            <a:off x="1371600" y="1280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64240" cy="1097280"/>
          </a:xfrm>
          <a:prstGeom prst="rect">
            <a:avLst/>
          </a:prstGeom>
          <a:noFill/>
        </p:spPr>
        <p:txBody>
          <a:bodyPr wrap="square">
            <a:spAutoFit/>
          </a:bodyPr>
          <a:lstStyle/>
          <a:p>
            <a:pPr algn="ctr"/>
            <a:r>
              <a:rPr sz="3200" b="1" i="0">
                <a:solidFill>
                  <a:srgbClr val="FFFFFF"/>
                </a:solidFill>
              </a:rPr>
              <a:t>PWD का डिजिटल माप घोटाला</a:t>
            </a:r>
          </a:p>
        </p:txBody>
      </p:sp>
      <p:sp>
        <p:nvSpPr>
          <p:cNvPr id="8" name="TextBox 7"/>
          <p:cNvSpPr txBox="1"/>
          <p:nvPr/>
        </p:nvSpPr>
        <p:spPr>
          <a:xfrm>
            <a:off x="548640" y="2651760"/>
            <a:ext cx="11064240" cy="731520"/>
          </a:xfrm>
          <a:prstGeom prst="rect">
            <a:avLst/>
          </a:prstGeom>
          <a:noFill/>
        </p:spPr>
        <p:txBody>
          <a:bodyPr wrap="square">
            <a:spAutoFit/>
          </a:bodyPr>
          <a:lstStyle/>
          <a:p>
            <a:pPr algn="ctr"/>
            <a:r>
              <a:rPr sz="1800" b="1" i="0">
                <a:solidFill>
                  <a:srgbClr val="A0C8DC"/>
                </a:solidFill>
              </a:rPr>
              <a:t>Electronic Measurement Books: The Digital Veil Over Road Corruption</a:t>
            </a:r>
          </a:p>
        </p:txBody>
      </p:sp>
      <p:sp>
        <p:nvSpPr>
          <p:cNvPr id="9" name="TextBox 8"/>
          <p:cNvSpPr txBox="1"/>
          <p:nvPr/>
        </p:nvSpPr>
        <p:spPr>
          <a:xfrm>
            <a:off x="548640" y="3520440"/>
            <a:ext cx="11064240" cy="548640"/>
          </a:xfrm>
          <a:prstGeom prst="rect">
            <a:avLst/>
          </a:prstGeom>
          <a:noFill/>
        </p:spPr>
        <p:txBody>
          <a:bodyPr wrap="square">
            <a:spAutoFit/>
          </a:bodyPr>
          <a:lstStyle/>
          <a:p>
            <a:pPr algn="ctr"/>
            <a:r>
              <a:rPr sz="1100" b="0" i="1">
                <a:solidFill>
                  <a:srgbClr val="B4BEB4"/>
                </a:solidFill>
              </a:rPr>
              <a:t>eMB Abstract, Bitumen CRC Fraud और Missing QC Records की सम्पूर्ण खोजी पड़ताल</a:t>
            </a:r>
          </a:p>
        </p:txBody>
      </p:sp>
      <p:sp>
        <p:nvSpPr>
          <p:cNvPr id="10" name="TextBox 9"/>
          <p:cNvSpPr txBox="1"/>
          <p:nvPr/>
        </p:nvSpPr>
        <p:spPr>
          <a:xfrm>
            <a:off x="548640" y="4069080"/>
            <a:ext cx="11064240" cy="548640"/>
          </a:xfrm>
          <a:prstGeom prst="rect">
            <a:avLst/>
          </a:prstGeom>
          <a:noFill/>
        </p:spPr>
        <p:txBody>
          <a:bodyPr wrap="square">
            <a:spAutoFit/>
          </a:bodyPr>
          <a:lstStyle/>
          <a:p>
            <a:pPr algn="ctr"/>
            <a:r>
              <a:rPr sz="1000" b="0" i="1">
                <a:solidFill>
                  <a:srgbClr val="A0AFA5"/>
                </a:solidFill>
              </a:rPr>
              <a:t>How abstract-only e-MBs, missing Bitumen CRCs and absent QC records enable systematic road fraud</a:t>
            </a:r>
          </a:p>
        </p:txBody>
      </p:sp>
      <p:sp>
        <p:nvSpPr>
          <p:cNvPr id="11" name="Rectangle 10"/>
          <p:cNvSpPr/>
          <p:nvPr/>
        </p:nvSpPr>
        <p:spPr>
          <a:xfrm>
            <a:off x="1371600" y="4709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846320"/>
            <a:ext cx="11430000" cy="365760"/>
          </a:xfrm>
          <a:prstGeom prst="rect">
            <a:avLst/>
          </a:prstGeom>
          <a:noFill/>
        </p:spPr>
        <p:txBody>
          <a:bodyPr wrap="square">
            <a:spAutoFit/>
          </a:bodyPr>
          <a:lstStyle/>
          <a:p>
            <a:pPr algn="ctr"/>
            <a:r>
              <a:rPr sz="900" b="0" i="0">
                <a:solidFill>
                  <a:srgbClr val="788C96"/>
                </a:solidFill>
              </a:rPr>
              <a:t>जन संवाददाता | Jan Samvaddaata  •  6 August 2026  •  PWD Roads &amp; Infrastructure Bureau, Rajasthan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430000" cy="457200"/>
          </a:xfrm>
          <a:prstGeom prst="rect">
            <a:avLst/>
          </a:prstGeom>
          <a:noFill/>
        </p:spPr>
        <p:txBody>
          <a:bodyPr wrap="square">
            <a:spAutoFit/>
          </a:bodyPr>
          <a:lstStyle/>
          <a:p>
            <a:pPr algn="ctr"/>
            <a:r>
              <a:rPr sz="1400" b="1" i="0">
                <a:solidFill>
                  <a:srgbClr val="0D9488"/>
                </a:solidFill>
              </a:rPr>
              <a:t>AT A GLANCE  —  मुख्य तथ्य  |  KEY FACTS</a:t>
            </a:r>
          </a:p>
        </p:txBody>
      </p:sp>
      <p:sp>
        <p:nvSpPr>
          <p:cNvPr id="4" name="Rectangle 3"/>
          <p:cNvSpPr/>
          <p:nvPr/>
        </p:nvSpPr>
        <p:spPr>
          <a:xfrm>
            <a:off x="274320"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868680"/>
            <a:ext cx="2560320" cy="640080"/>
          </a:xfrm>
          <a:prstGeom prst="rect">
            <a:avLst/>
          </a:prstGeom>
          <a:noFill/>
        </p:spPr>
        <p:txBody>
          <a:bodyPr wrap="square">
            <a:spAutoFit/>
          </a:bodyPr>
          <a:lstStyle/>
          <a:p>
            <a:pPr algn="ctr"/>
            <a:r>
              <a:rPr sz="2200" b="1" i="0">
                <a:solidFill>
                  <a:srgbClr val="FFFFFF"/>
                </a:solidFill>
              </a:rPr>
              <a:t>Abstract</a:t>
            </a:r>
          </a:p>
        </p:txBody>
      </p:sp>
      <p:sp>
        <p:nvSpPr>
          <p:cNvPr id="6" name="TextBox 5"/>
          <p:cNvSpPr txBox="1"/>
          <p:nvPr/>
        </p:nvSpPr>
        <p:spPr>
          <a:xfrm>
            <a:off x="365760" y="1463040"/>
            <a:ext cx="2560320" cy="502920"/>
          </a:xfrm>
          <a:prstGeom prst="rect">
            <a:avLst/>
          </a:prstGeom>
          <a:noFill/>
        </p:spPr>
        <p:txBody>
          <a:bodyPr wrap="square">
            <a:spAutoFit/>
          </a:bodyPr>
          <a:lstStyle/>
          <a:p>
            <a:pPr algn="ctr"/>
            <a:r>
              <a:rPr sz="850" b="0" i="0">
                <a:solidFill>
                  <a:srgbClr val="B4C3D2"/>
                </a:solidFill>
              </a:rPr>
              <a:t>e-MB has no line-by-line data — summary only</a:t>
            </a:r>
          </a:p>
        </p:txBody>
      </p:sp>
      <p:sp>
        <p:nvSpPr>
          <p:cNvPr id="7" name="Rectangle 6"/>
          <p:cNvSpPr/>
          <p:nvPr/>
        </p:nvSpPr>
        <p:spPr>
          <a:xfrm>
            <a:off x="3136391"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27832" y="868680"/>
            <a:ext cx="2560320" cy="640080"/>
          </a:xfrm>
          <a:prstGeom prst="rect">
            <a:avLst/>
          </a:prstGeom>
          <a:noFill/>
        </p:spPr>
        <p:txBody>
          <a:bodyPr wrap="square">
            <a:spAutoFit/>
          </a:bodyPr>
          <a:lstStyle/>
          <a:p>
            <a:pPr algn="ctr"/>
            <a:r>
              <a:rPr sz="2200" b="1" i="0">
                <a:solidFill>
                  <a:srgbClr val="FFFFFF"/>
                </a:solidFill>
              </a:rPr>
              <a:t>₹Cr</a:t>
            </a:r>
          </a:p>
        </p:txBody>
      </p:sp>
      <p:sp>
        <p:nvSpPr>
          <p:cNvPr id="9" name="TextBox 8"/>
          <p:cNvSpPr txBox="1"/>
          <p:nvPr/>
        </p:nvSpPr>
        <p:spPr>
          <a:xfrm>
            <a:off x="3227832" y="1463040"/>
            <a:ext cx="2560320" cy="502920"/>
          </a:xfrm>
          <a:prstGeom prst="rect">
            <a:avLst/>
          </a:prstGeom>
          <a:noFill/>
        </p:spPr>
        <p:txBody>
          <a:bodyPr wrap="square">
            <a:spAutoFit/>
          </a:bodyPr>
          <a:lstStyle/>
          <a:p>
            <a:pPr algn="ctr"/>
            <a:r>
              <a:rPr sz="850" b="0" i="0">
                <a:solidFill>
                  <a:srgbClr val="B4C3D2"/>
                </a:solidFill>
              </a:rPr>
              <a:t>Bitumen = largest cost component in road projects</a:t>
            </a:r>
          </a:p>
        </p:txBody>
      </p:sp>
      <p:sp>
        <p:nvSpPr>
          <p:cNvPr id="10" name="Rectangle 9"/>
          <p:cNvSpPr/>
          <p:nvPr/>
        </p:nvSpPr>
        <p:spPr>
          <a:xfrm>
            <a:off x="5998464"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9903" y="868680"/>
            <a:ext cx="2560320" cy="640080"/>
          </a:xfrm>
          <a:prstGeom prst="rect">
            <a:avLst/>
          </a:prstGeom>
          <a:noFill/>
        </p:spPr>
        <p:txBody>
          <a:bodyPr wrap="square">
            <a:spAutoFit/>
          </a:bodyPr>
          <a:lstStyle/>
          <a:p>
            <a:pPr algn="ctr"/>
            <a:r>
              <a:rPr sz="2200" b="1" i="0">
                <a:solidFill>
                  <a:srgbClr val="FFFFFF"/>
                </a:solidFill>
              </a:rPr>
              <a:t>0</a:t>
            </a:r>
          </a:p>
        </p:txBody>
      </p:sp>
      <p:sp>
        <p:nvSpPr>
          <p:cNvPr id="12" name="TextBox 11"/>
          <p:cNvSpPr txBox="1"/>
          <p:nvPr/>
        </p:nvSpPr>
        <p:spPr>
          <a:xfrm>
            <a:off x="6089903" y="1463040"/>
            <a:ext cx="2560320" cy="502920"/>
          </a:xfrm>
          <a:prstGeom prst="rect">
            <a:avLst/>
          </a:prstGeom>
          <a:noFill/>
        </p:spPr>
        <p:txBody>
          <a:bodyPr wrap="square">
            <a:spAutoFit/>
          </a:bodyPr>
          <a:lstStyle/>
          <a:p>
            <a:pPr algn="ctr"/>
            <a:r>
              <a:rPr sz="850" b="0" i="0">
                <a:solidFill>
                  <a:srgbClr val="B4C3D2"/>
                </a:solidFill>
              </a:rPr>
              <a:t>QC Test Abstracts routinely absent</a:t>
            </a:r>
          </a:p>
        </p:txBody>
      </p:sp>
      <p:sp>
        <p:nvSpPr>
          <p:cNvPr id="13" name="Rectangle 12"/>
          <p:cNvSpPr/>
          <p:nvPr/>
        </p:nvSpPr>
        <p:spPr>
          <a:xfrm>
            <a:off x="8860536"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51976" y="868680"/>
            <a:ext cx="2560320" cy="640080"/>
          </a:xfrm>
          <a:prstGeom prst="rect">
            <a:avLst/>
          </a:prstGeom>
          <a:noFill/>
        </p:spPr>
        <p:txBody>
          <a:bodyPr wrap="square">
            <a:spAutoFit/>
          </a:bodyPr>
          <a:lstStyle/>
          <a:p>
            <a:pPr algn="ctr"/>
            <a:r>
              <a:rPr sz="2200" b="1" i="0">
                <a:solidFill>
                  <a:srgbClr val="FFFFFF"/>
                </a:solidFill>
              </a:rPr>
              <a:t>CRC</a:t>
            </a:r>
          </a:p>
        </p:txBody>
      </p:sp>
      <p:sp>
        <p:nvSpPr>
          <p:cNvPr id="15" name="TextBox 14"/>
          <p:cNvSpPr txBox="1"/>
          <p:nvPr/>
        </p:nvSpPr>
        <p:spPr>
          <a:xfrm>
            <a:off x="8951976" y="1463040"/>
            <a:ext cx="2560320" cy="502920"/>
          </a:xfrm>
          <a:prstGeom prst="rect">
            <a:avLst/>
          </a:prstGeom>
          <a:noFill/>
        </p:spPr>
        <p:txBody>
          <a:bodyPr wrap="square">
            <a:spAutoFit/>
          </a:bodyPr>
          <a:lstStyle/>
          <a:p>
            <a:pPr algn="ctr"/>
            <a:r>
              <a:rPr sz="850" b="0" i="0">
                <a:solidFill>
                  <a:srgbClr val="B4C3D2"/>
                </a:solidFill>
              </a:rPr>
              <a:t>Bitumen CRC — 'Single Mother of Corruption' in PWD</a:t>
            </a:r>
          </a:p>
        </p:txBody>
      </p:sp>
      <p:sp>
        <p:nvSpPr>
          <p:cNvPr id="16" name="Rectangle 15"/>
          <p:cNvSpPr/>
          <p:nvPr/>
        </p:nvSpPr>
        <p:spPr>
          <a:xfrm>
            <a:off x="274320"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267712"/>
            <a:ext cx="2560320" cy="640080"/>
          </a:xfrm>
          <a:prstGeom prst="rect">
            <a:avLst/>
          </a:prstGeom>
          <a:noFill/>
        </p:spPr>
        <p:txBody>
          <a:bodyPr wrap="square">
            <a:spAutoFit/>
          </a:bodyPr>
          <a:lstStyle/>
          <a:p>
            <a:pPr algn="ctr"/>
            <a:r>
              <a:rPr sz="2200" b="1" i="0">
                <a:solidFill>
                  <a:srgbClr val="FFFFFF"/>
                </a:solidFill>
              </a:rPr>
              <a:t>5</a:t>
            </a:r>
          </a:p>
        </p:txBody>
      </p:sp>
      <p:sp>
        <p:nvSpPr>
          <p:cNvPr id="18" name="TextBox 17"/>
          <p:cNvSpPr txBox="1"/>
          <p:nvPr/>
        </p:nvSpPr>
        <p:spPr>
          <a:xfrm>
            <a:off x="365760" y="2862072"/>
            <a:ext cx="2560320" cy="502920"/>
          </a:xfrm>
          <a:prstGeom prst="rect">
            <a:avLst/>
          </a:prstGeom>
          <a:noFill/>
        </p:spPr>
        <p:txBody>
          <a:bodyPr wrap="square">
            <a:spAutoFit/>
          </a:bodyPr>
          <a:lstStyle/>
          <a:p>
            <a:pPr algn="ctr"/>
            <a:r>
              <a:rPr sz="850" b="0" i="0">
                <a:solidFill>
                  <a:srgbClr val="B4C3D2"/>
                </a:solidFill>
              </a:rPr>
              <a:t>Fraud pathways — incl. multi-project CRC reuse</a:t>
            </a:r>
          </a:p>
        </p:txBody>
      </p:sp>
      <p:sp>
        <p:nvSpPr>
          <p:cNvPr id="19" name="Rectangle 18"/>
          <p:cNvSpPr/>
          <p:nvPr/>
        </p:nvSpPr>
        <p:spPr>
          <a:xfrm>
            <a:off x="3136391"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27832" y="2267712"/>
            <a:ext cx="2560320" cy="640080"/>
          </a:xfrm>
          <a:prstGeom prst="rect">
            <a:avLst/>
          </a:prstGeom>
          <a:noFill/>
        </p:spPr>
        <p:txBody>
          <a:bodyPr wrap="square">
            <a:spAutoFit/>
          </a:bodyPr>
          <a:lstStyle/>
          <a:p>
            <a:pPr algn="ctr"/>
            <a:r>
              <a:rPr sz="2200" b="1" i="0">
                <a:solidFill>
                  <a:srgbClr val="FFFFFF"/>
                </a:solidFill>
              </a:rPr>
              <a:t>Nil</a:t>
            </a:r>
          </a:p>
        </p:txBody>
      </p:sp>
      <p:sp>
        <p:nvSpPr>
          <p:cNvPr id="21" name="TextBox 20"/>
          <p:cNvSpPr txBox="1"/>
          <p:nvPr/>
        </p:nvSpPr>
        <p:spPr>
          <a:xfrm>
            <a:off x="3227832" y="2862072"/>
            <a:ext cx="2560320" cy="502920"/>
          </a:xfrm>
          <a:prstGeom prst="rect">
            <a:avLst/>
          </a:prstGeom>
          <a:noFill/>
        </p:spPr>
        <p:txBody>
          <a:bodyPr wrap="square">
            <a:spAutoFit/>
          </a:bodyPr>
          <a:lstStyle/>
          <a:p>
            <a:pPr algn="ctr"/>
            <a:r>
              <a:rPr sz="850" b="0" i="0">
                <a:solidFill>
                  <a:srgbClr val="B4C3D2"/>
                </a:solidFill>
              </a:rPr>
              <a:t>Consumption Statement links in digital billing</a:t>
            </a:r>
          </a:p>
        </p:txBody>
      </p:sp>
      <p:sp>
        <p:nvSpPr>
          <p:cNvPr id="22" name="Rectangle 21"/>
          <p:cNvSpPr/>
          <p:nvPr/>
        </p:nvSpPr>
        <p:spPr>
          <a:xfrm>
            <a:off x="5998464"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9903" y="2267712"/>
            <a:ext cx="2560320" cy="640080"/>
          </a:xfrm>
          <a:prstGeom prst="rect">
            <a:avLst/>
          </a:prstGeom>
          <a:noFill/>
        </p:spPr>
        <p:txBody>
          <a:bodyPr wrap="square">
            <a:spAutoFit/>
          </a:bodyPr>
          <a:lstStyle/>
          <a:p>
            <a:pPr algn="ctr"/>
            <a:r>
              <a:rPr sz="2200" b="1" i="0">
                <a:solidFill>
                  <a:srgbClr val="FFFFFF"/>
                </a:solidFill>
              </a:rPr>
              <a:t>Early</a:t>
            </a:r>
          </a:p>
        </p:txBody>
      </p:sp>
      <p:sp>
        <p:nvSpPr>
          <p:cNvPr id="24" name="TextBox 23"/>
          <p:cNvSpPr txBox="1"/>
          <p:nvPr/>
        </p:nvSpPr>
        <p:spPr>
          <a:xfrm>
            <a:off x="6089903" y="2862072"/>
            <a:ext cx="2560320" cy="502920"/>
          </a:xfrm>
          <a:prstGeom prst="rect">
            <a:avLst/>
          </a:prstGeom>
          <a:noFill/>
        </p:spPr>
        <p:txBody>
          <a:bodyPr wrap="square">
            <a:spAutoFit/>
          </a:bodyPr>
          <a:lstStyle/>
          <a:p>
            <a:pPr algn="ctr"/>
            <a:r>
              <a:rPr sz="850" b="0" i="0">
                <a:solidFill>
                  <a:srgbClr val="B4C3D2"/>
                </a:solidFill>
              </a:rPr>
              <a:t>Road failures due to sub-standard bitumen</a:t>
            </a:r>
          </a:p>
        </p:txBody>
      </p:sp>
      <p:sp>
        <p:nvSpPr>
          <p:cNvPr id="25" name="Rectangle 24"/>
          <p:cNvSpPr/>
          <p:nvPr/>
        </p:nvSpPr>
        <p:spPr>
          <a:xfrm>
            <a:off x="8860536"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51976" y="2267712"/>
            <a:ext cx="2560320" cy="640080"/>
          </a:xfrm>
          <a:prstGeom prst="rect">
            <a:avLst/>
          </a:prstGeom>
          <a:noFill/>
        </p:spPr>
        <p:txBody>
          <a:bodyPr wrap="square">
            <a:spAutoFit/>
          </a:bodyPr>
          <a:lstStyle/>
          <a:p>
            <a:pPr algn="ctr"/>
            <a:r>
              <a:rPr sz="2200" b="1" i="0">
                <a:solidFill>
                  <a:srgbClr val="FFFFFF"/>
                </a:solidFill>
              </a:rPr>
              <a:t>Unaudited</a:t>
            </a:r>
          </a:p>
        </p:txBody>
      </p:sp>
      <p:sp>
        <p:nvSpPr>
          <p:cNvPr id="27" name="TextBox 26"/>
          <p:cNvSpPr txBox="1"/>
          <p:nvPr/>
        </p:nvSpPr>
        <p:spPr>
          <a:xfrm>
            <a:off x="8951976" y="2862072"/>
            <a:ext cx="2560320" cy="502920"/>
          </a:xfrm>
          <a:prstGeom prst="rect">
            <a:avLst/>
          </a:prstGeom>
          <a:noFill/>
        </p:spPr>
        <p:txBody>
          <a:bodyPr wrap="square">
            <a:spAutoFit/>
          </a:bodyPr>
          <a:lstStyle/>
          <a:p>
            <a:pPr algn="ctr"/>
            <a:r>
              <a:rPr sz="850" b="0" i="0">
                <a:solidFill>
                  <a:srgbClr val="B4C3D2"/>
                </a:solidFill>
              </a:rPr>
              <a:t>e-MB Abstract = unverifiable financial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Ch.1</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eMB का वादा और ज़मीनी हकीकत</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e-MB Promise vs Ground Reality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Electronic Measurement Book पारदर्शिता, सटीकता और जवाबदेही लाने के लिए था। इसकी
जगह यह एक sanitised abstract तैयार करता है जो over-measurement, quality
shortfalls और Bitumen हेराफेरी छुपाता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The Electronic Measurement Book was designed to bring transparency, accuracy and
accountability to civil works billing. Instead it produces a sanitised abstract
that conceals the very details needed to detect over-measurement, quality
shortfalls and bitumen record manipulation.</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Ch.2</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Abstract-Only Billing — बिना नींव की डिजिटल इमारत</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Abstract-Only Billing — Digital Building Without Foundation</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eMB में missing: Chainage-wise quantities, Layer-wise thickness, Cross-sections,
Progressive totals। दो अनिवार्य actions: (1) Contractor का original bill full
upload। (2) Physical MB का complete PDF।</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Missing from e-MB: chainage-wise quantities, layer-wise thicknesses, cross-
sectional measurements, progressive totals. Two non-negotiable mandatory actions
when full digital entry is impractical: (1) Upload contractor's original bill in
full. (2) Upload clear PDF of physical MB with complete line-by-line
measurements.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Ch.3</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Missing QC Records — गुणवत्ता कागज़ पर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Missing QC Test Records — Quality Only on Paper</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Grade, density, Marshall stability, binder content — laboratory test results eMB
billing trail में routinely absent। Materials ने specified standards पूरे किए या
नहीं — कोई accessible record नहीं।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Laboratory test results for bitumen grade, density, Marshall stability and
binder content are routinely absent from e-MB billing trails. No accessible
record exists of whether materials met specified standards. Quality Control
exists only on paper.</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A3E"/>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Ch.4</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Bitumen CRC — भ्रष्टाचार की जननी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Bitumen CRC — The Single Mother of Corruption</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Bitumen CRC और Consumption Statement वह documentary chain है जो prove करती है कि
bitumen genuinely खरीदी, deliver और use हुई। इनके absent होने पर auditor के पास
केवल abstract figure है — 'X MT bitumen used' — जिसे न prove किया जा सकता, न
disprove।</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Bitumen CRC (Consignment Receipt Certificate) and Consumption Statement are the
documentary chain that proves bitumen was genuinely purchased, delivered and
used. When missing, an auditor has only an abstract figure 'X MT bitumen used'
with no way to prove or disprove it. CRC verification is universally identified
as the single largest corruption vector in PWD road works.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814"/>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Ch.5</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Fraud के चार रास्ते — Bitumen में हेराफेरी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Four Fraud Pathways — How Bitumen Manipulation Happens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Pathway 1: Genuine CRC में quantity alter। Pathway 2: Fake/recycled CRC — same
certificate multiple bills में। Pathway 3: Verification officer compromised।
Pathway 4: Consumption statement inflate — 80 MT use, 120 MT claim।</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Pathway 1: Genuine CRC manipulation (quantity altered). Pathway 2: Fake or
recycled CRC (same certificate in multiple bills). Pathway 3: Compromised
verification (verifying officer is in collusion). Pathway 4: Inflated
consumption statement (80 MT used, 120 MT claimed).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0533"/>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सड़कें क्यों टूटती हैं — जनता का नुकसान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Why Roads Fail — The Real Public Cost</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Sub-standard bitumen से सड़कें design life से पहले टूटती हैं। 10 साल की सड़क 2-3
साल में गड्ढों में। State पर additional maintenance खर्च। Public safety खतरे
में। Taxpayer एक सड़क के लिए दो बार tax देता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Sub-standard bitumen produces roads that fail years before their design life. A
road designed for 10 years fails in 2-3. This imposes higher maintenance costs
on the state, endagers public safety through potholes and accidents, and forces
taxpayers to fund the same road twice. When the digital system designed to
prevent this becomes a vehicle for concealment, the reform loses credibility.</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42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Ch.6C</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रद्द अनुबंध — Gannon Dunkerlay, Bhairavji Bridge, Kotada Road</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Rescinded Contracts — ~200 Cases, Zero Recovery (Bhairavji, Kotada, Gannon Dunkerlay)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तीन नामित मामले: भैरवजी Bridge बाँसवाड़ा, Kotada Road उदयपुर, Gannon Dunkerlay —
तीनों में contract rescind, Risk and Cost tender, लेकिन वसूली शून्य। ~200
rescissions state-wide। Rescission केवल कागज़ी खतरा। Blacklist enforce नहीं।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Three named cases: Bhairavji Bridge Banswara (rescinded, nil recovery), Kotada
Road Udaipur (rescinded, nil recovery), Gannon Dunkerlay &amp; Co (rescinded, nil
recovery — large established firm walked free). State-wide pattern: ~200
rescissions, zero systematic recovery monitoring. Rescission is a paper threat,
not a financial one. No blacklist enforced.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Ch.7</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छह Minimum Corrective Actions — तत्काल</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Six Minimum Corrective Actions — Immediate</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 Contractor का original bill upload अनिवार्य। 2. Physical MB का complete PDF।
3. QC test abstract upload। 4. Bitumen CRC copies upload। 5. Consumption
Statement और CRC cross-link। 6. Documents absent = payment withheld।</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 Mandate upload of contractor's original bill. 2. Upload complete physical MB
PDF. 3. Upload QC test abstract. 4. Upload Bitumen CRC copies. 5. Cross-link
Consumption Statement with CRC (mismatch = auto-flag). 6. Treat missing
documents as ground for withholding payment.</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Ch.8</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मीडिया और जनता से आह्वान — आठ माँगें</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Call to Media &amp; Public — Eight Demands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1.RTI — CRC upload status। 2.CAG audit: bitumen claimed vs received। 3.CRC
verification sting। 4.Recent roads पर core cutting test। 5.Department circular —
uploads mandatory। 6.Bitumen supplier public list। 7.Public portal — bill
tracking। 8.ACB investigation — duplicate CRC।</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1.RTI on CRC upload status. 2.CAG audit of bitumen claimed vs received. 3.Sting
on CRC verification. 4.Core cutting test on recent roads. 5.Department circular
mandating uploads. 6.Public bitumen supplier list. 7.Public portal for bill
tracking. 8.ACB investigation where CRC is reused.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7F1D1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
            <a:ext cx="11274552" cy="731520"/>
          </a:xfrm>
          <a:prstGeom prst="rect">
            <a:avLst/>
          </a:prstGeom>
          <a:noFill/>
        </p:spPr>
        <p:txBody>
          <a:bodyPr wrap="square">
            <a:spAutoFit/>
          </a:bodyPr>
          <a:lstStyle/>
          <a:p>
            <a:pPr algn="ctr"/>
            <a:r>
              <a:rPr sz="2200" b="1" i="0">
                <a:solidFill>
                  <a:srgbClr val="FFFFFF"/>
                </a:solidFill>
              </a:rPr>
              <a:t>🚨  ACT NOW  —  अभी कार्रवाई करें  🚨</a:t>
            </a:r>
          </a:p>
        </p:txBody>
      </p:sp>
      <p:sp>
        <p:nvSpPr>
          <p:cNvPr id="5" name="TextBox 4"/>
          <p:cNvSpPr txBox="1"/>
          <p:nvPr/>
        </p:nvSpPr>
        <p:spPr>
          <a:xfrm>
            <a:off x="457200" y="1371600"/>
            <a:ext cx="11274552" cy="914400"/>
          </a:xfrm>
          <a:prstGeom prst="rect">
            <a:avLst/>
          </a:prstGeom>
          <a:noFill/>
        </p:spPr>
        <p:txBody>
          <a:bodyPr wrap="square">
            <a:spAutoFit/>
          </a:bodyPr>
          <a:lstStyle/>
          <a:p>
            <a:pPr algn="ctr"/>
            <a:r>
              <a:rPr sz="1400" b="0" i="0">
                <a:solidFill>
                  <a:srgbClr val="FFC8C8"/>
                </a:solidFill>
              </a:rPr>
              <a:t>RTI FILE करें  •  CAG Audit माँगें  •  ACB को सूचित करें
File RTI  •  Demand CAG Audit  •  Alert Anti-Corruption Bureau</a:t>
            </a:r>
          </a:p>
        </p:txBody>
      </p:sp>
      <p:sp>
        <p:nvSpPr>
          <p:cNvPr id="6" name="TextBox 5"/>
          <p:cNvSpPr txBox="1"/>
          <p:nvPr/>
        </p:nvSpPr>
        <p:spPr>
          <a:xfrm>
            <a:off x="914400" y="2743200"/>
            <a:ext cx="10360152" cy="2560320"/>
          </a:xfrm>
          <a:prstGeom prst="rect">
            <a:avLst/>
          </a:prstGeom>
          <a:noFill/>
        </p:spPr>
        <p:txBody>
          <a:bodyPr wrap="square">
            <a:spAutoFit/>
          </a:bodyPr>
          <a:lstStyle/>
          <a:p>
            <a:pPr algn="ctr"/>
            <a:r>
              <a:rPr sz="1600" b="0" i="1">
                <a:solidFill>
                  <a:srgbClr val="FFFFFF"/>
                </a:solidFill>
              </a:rPr>
              <a:t>"जब तक system की monitoring नहीं होगी —
जनता का पैसा डूबता रहेगा।"
"Until the system is monitored,
public money will keep draining."</a:t>
            </a:r>
          </a:p>
        </p:txBody>
      </p:sp>
      <p:sp>
        <p:nvSpPr>
          <p:cNvPr id="7" name="TextBox 6"/>
          <p:cNvSpPr txBox="1"/>
          <p:nvPr/>
        </p:nvSpPr>
        <p:spPr>
          <a:xfrm>
            <a:off x="457200" y="6217920"/>
            <a:ext cx="11274552" cy="457200"/>
          </a:xfrm>
          <a:prstGeom prst="rect">
            <a:avLst/>
          </a:prstGeom>
          <a:noFill/>
        </p:spPr>
        <p:txBody>
          <a:bodyPr wrap="square">
            <a:spAutoFit/>
          </a:bodyPr>
          <a:lstStyle/>
          <a:p>
            <a:pPr algn="ctr"/>
            <a:r>
              <a:rPr sz="900" b="0" i="0">
                <a:solidFill>
                  <a:srgbClr val="C89696"/>
                </a:solidFill>
              </a:rPr>
              <a:t>जन संवाददाता  |  6 August 2026  |  Public Interest Investigation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