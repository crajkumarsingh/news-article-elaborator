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84848"/>
            <a:ext cx="12188952" cy="7315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28600"/>
            <a:ext cx="11430000" cy="502920"/>
          </a:xfrm>
          <a:prstGeom prst="rect">
            <a:avLst/>
          </a:prstGeom>
          <a:noFill/>
        </p:spPr>
        <p:txBody>
          <a:bodyPr wrap="square">
            <a:spAutoFit/>
          </a:bodyPr>
          <a:lstStyle/>
          <a:p>
            <a:pPr algn="ctr"/>
            <a:r>
              <a:rPr sz="1300" b="1" i="0">
                <a:solidFill>
                  <a:srgbClr val="0D9488"/>
                </a:solidFill>
              </a:rPr>
              <a:t>जन संवाददाता  |  JAN SAMVADDAATA</a:t>
            </a:r>
          </a:p>
        </p:txBody>
      </p:sp>
      <p:sp>
        <p:nvSpPr>
          <p:cNvPr id="5" name="TextBox 4"/>
          <p:cNvSpPr txBox="1"/>
          <p:nvPr/>
        </p:nvSpPr>
        <p:spPr>
          <a:xfrm>
            <a:off x="365760" y="749808"/>
            <a:ext cx="11430000" cy="347472"/>
          </a:xfrm>
          <a:prstGeom prst="rect">
            <a:avLst/>
          </a:prstGeom>
          <a:noFill/>
        </p:spPr>
        <p:txBody>
          <a:bodyPr wrap="square">
            <a:spAutoFit/>
          </a:bodyPr>
          <a:lstStyle/>
          <a:p>
            <a:pPr algn="ctr"/>
            <a:r>
              <a:rPr sz="950" b="0" i="0">
                <a:solidFill>
                  <a:srgbClr val="AAB9C8"/>
                </a:solidFill>
              </a:rPr>
              <a:t>खोजी पत्रकारिता  |  INVESTIGATIVE JOURNALISM</a:t>
            </a:r>
          </a:p>
        </p:txBody>
      </p:sp>
      <p:sp>
        <p:nvSpPr>
          <p:cNvPr id="6" name="Rectangle 5"/>
          <p:cNvSpPr/>
          <p:nvPr/>
        </p:nvSpPr>
        <p:spPr>
          <a:xfrm>
            <a:off x="1371600" y="1188720"/>
            <a:ext cx="9445752" cy="36576"/>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325880"/>
            <a:ext cx="11274552" cy="1051560"/>
          </a:xfrm>
          <a:prstGeom prst="rect">
            <a:avLst/>
          </a:prstGeom>
          <a:noFill/>
        </p:spPr>
        <p:txBody>
          <a:bodyPr wrap="square">
            <a:spAutoFit/>
          </a:bodyPr>
          <a:lstStyle/>
          <a:p>
            <a:pPr algn="ctr"/>
            <a:r>
              <a:rPr sz="3000" b="1" i="0">
                <a:solidFill>
                  <a:srgbClr val="FFFFFF"/>
                </a:solidFill>
              </a:rPr>
              <a:t>PWD का डिजिटल माप घोटाला</a:t>
            </a:r>
          </a:p>
        </p:txBody>
      </p:sp>
      <p:sp>
        <p:nvSpPr>
          <p:cNvPr id="8" name="TextBox 7"/>
          <p:cNvSpPr txBox="1"/>
          <p:nvPr/>
        </p:nvSpPr>
        <p:spPr>
          <a:xfrm>
            <a:off x="457200" y="2468880"/>
            <a:ext cx="11274552" cy="685800"/>
          </a:xfrm>
          <a:prstGeom prst="rect">
            <a:avLst/>
          </a:prstGeom>
          <a:noFill/>
        </p:spPr>
        <p:txBody>
          <a:bodyPr wrap="square">
            <a:spAutoFit/>
          </a:bodyPr>
          <a:lstStyle/>
          <a:p>
            <a:pPr algn="ctr"/>
            <a:r>
              <a:rPr sz="1600" b="1" i="0">
                <a:solidFill>
                  <a:srgbClr val="A0C8DC"/>
                </a:solidFill>
              </a:rPr>
              <a:t>Electronic Measurement Books: The Digital Veil Over Road Corruption</a:t>
            </a:r>
          </a:p>
        </p:txBody>
      </p:sp>
      <p:sp>
        <p:nvSpPr>
          <p:cNvPr id="9" name="TextBox 8"/>
          <p:cNvSpPr txBox="1"/>
          <p:nvPr/>
        </p:nvSpPr>
        <p:spPr>
          <a:xfrm>
            <a:off x="457200" y="3291840"/>
            <a:ext cx="11274552" cy="502920"/>
          </a:xfrm>
          <a:prstGeom prst="rect">
            <a:avLst/>
          </a:prstGeom>
          <a:noFill/>
        </p:spPr>
        <p:txBody>
          <a:bodyPr wrap="square">
            <a:spAutoFit/>
          </a:bodyPr>
          <a:lstStyle/>
          <a:p>
            <a:pPr algn="ctr"/>
            <a:r>
              <a:rPr sz="1000" b="0" i="1">
                <a:solidFill>
                  <a:srgbClr val="AFB9AF"/>
                </a:solidFill>
              </a:rPr>
              <a:t>eMB Abstract · Bitumen CRC Fraud · 5 Fraud Pathways · Missing QC Records · No Contractor Ledger · Dormant EMD/SD/Dep-V · Rescinded Contracts · Recovery Portal नहीं</a:t>
            </a:r>
          </a:p>
        </p:txBody>
      </p:sp>
      <p:sp>
        <p:nvSpPr>
          <p:cNvPr id="10" name="TextBox 9"/>
          <p:cNvSpPr txBox="1"/>
          <p:nvPr/>
        </p:nvSpPr>
        <p:spPr>
          <a:xfrm>
            <a:off x="457200" y="3822191"/>
            <a:ext cx="11274552" cy="502920"/>
          </a:xfrm>
          <a:prstGeom prst="rect">
            <a:avLst/>
          </a:prstGeom>
          <a:noFill/>
        </p:spPr>
        <p:txBody>
          <a:bodyPr wrap="square">
            <a:spAutoFit/>
          </a:bodyPr>
          <a:lstStyle/>
          <a:p>
            <a:pPr algn="ctr"/>
            <a:r>
              <a:rPr sz="950" b="0" i="1">
                <a:solidFill>
                  <a:srgbClr val="9BAAA0"/>
                </a:solidFill>
              </a:rPr>
              <a:t>A complete investigative expose of PWD road works corruption enabled by absent digital accountability</a:t>
            </a:r>
          </a:p>
        </p:txBody>
      </p:sp>
      <p:sp>
        <p:nvSpPr>
          <p:cNvPr id="11" name="Rectangle 10"/>
          <p:cNvSpPr/>
          <p:nvPr/>
        </p:nvSpPr>
        <p:spPr>
          <a:xfrm>
            <a:off x="1371600" y="4480560"/>
            <a:ext cx="9445752" cy="36576"/>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5760" y="4617720"/>
            <a:ext cx="11430000" cy="347472"/>
          </a:xfrm>
          <a:prstGeom prst="rect">
            <a:avLst/>
          </a:prstGeom>
          <a:noFill/>
        </p:spPr>
        <p:txBody>
          <a:bodyPr wrap="square">
            <a:spAutoFit/>
          </a:bodyPr>
          <a:lstStyle/>
          <a:p>
            <a:pPr algn="ctr"/>
            <a:r>
              <a:rPr sz="850" b="0" i="0">
                <a:solidFill>
                  <a:srgbClr val="6E8291"/>
                </a:solidFill>
              </a:rPr>
              <a:t>जन संवाददाता | Jan Samvaddaata  •  6 August 2026  •  PWD Roads &amp; Infrastructure Bureau, Rajasthan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09728"/>
            <a:ext cx="11430000" cy="438912"/>
          </a:xfrm>
          <a:prstGeom prst="rect">
            <a:avLst/>
          </a:prstGeom>
          <a:noFill/>
        </p:spPr>
        <p:txBody>
          <a:bodyPr wrap="square">
            <a:spAutoFit/>
          </a:bodyPr>
          <a:lstStyle/>
          <a:p>
            <a:pPr algn="ctr"/>
            <a:r>
              <a:rPr sz="1300" b="1" i="0">
                <a:solidFill>
                  <a:srgbClr val="0D9488"/>
                </a:solidFill>
              </a:rPr>
              <a:t>AT A GLANCE  —  मुख्य तथ्य  |  KEY FACTS</a:t>
            </a:r>
          </a:p>
        </p:txBody>
      </p:sp>
      <p:sp>
        <p:nvSpPr>
          <p:cNvPr id="4" name="Rectangle 3"/>
          <p:cNvSpPr/>
          <p:nvPr/>
        </p:nvSpPr>
        <p:spPr>
          <a:xfrm>
            <a:off x="274320" y="685800"/>
            <a:ext cx="2743200" cy="1188720"/>
          </a:xfrm>
          <a:prstGeom prst="rect">
            <a:avLst/>
          </a:prstGeom>
          <a:solidFill>
            <a:srgbClr val="285080"/>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758952"/>
            <a:ext cx="2596896" cy="594360"/>
          </a:xfrm>
          <a:prstGeom prst="rect">
            <a:avLst/>
          </a:prstGeom>
          <a:noFill/>
        </p:spPr>
        <p:txBody>
          <a:bodyPr wrap="square">
            <a:spAutoFit/>
          </a:bodyPr>
          <a:lstStyle/>
          <a:p>
            <a:pPr algn="ctr"/>
            <a:r>
              <a:rPr sz="2000" b="1" i="0">
                <a:solidFill>
                  <a:srgbClr val="FFFFFF"/>
                </a:solidFill>
              </a:rPr>
              <a:t>Abstract</a:t>
            </a:r>
          </a:p>
        </p:txBody>
      </p:sp>
      <p:sp>
        <p:nvSpPr>
          <p:cNvPr id="6" name="TextBox 5"/>
          <p:cNvSpPr txBox="1"/>
          <p:nvPr/>
        </p:nvSpPr>
        <p:spPr>
          <a:xfrm>
            <a:off x="347472" y="1344168"/>
            <a:ext cx="2596896" cy="475488"/>
          </a:xfrm>
          <a:prstGeom prst="rect">
            <a:avLst/>
          </a:prstGeom>
          <a:noFill/>
        </p:spPr>
        <p:txBody>
          <a:bodyPr wrap="square">
            <a:spAutoFit/>
          </a:bodyPr>
          <a:lstStyle/>
          <a:p>
            <a:pPr algn="ctr"/>
            <a:r>
              <a:rPr sz="800" b="0" i="0">
                <a:solidFill>
                  <a:srgbClr val="AFBECD"/>
                </a:solidFill>
              </a:rPr>
              <a:t>e-MB has no line-by-line data — summary only</a:t>
            </a:r>
          </a:p>
        </p:txBody>
      </p:sp>
      <p:sp>
        <p:nvSpPr>
          <p:cNvPr id="7" name="Rectangle 6"/>
          <p:cNvSpPr/>
          <p:nvPr/>
        </p:nvSpPr>
        <p:spPr>
          <a:xfrm>
            <a:off x="3136391" y="685800"/>
            <a:ext cx="2743200" cy="1188720"/>
          </a:xfrm>
          <a:prstGeom prst="rect">
            <a:avLst/>
          </a:prstGeom>
          <a:solidFill>
            <a:srgbClr val="285080"/>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9544" y="758952"/>
            <a:ext cx="2596896" cy="594360"/>
          </a:xfrm>
          <a:prstGeom prst="rect">
            <a:avLst/>
          </a:prstGeom>
          <a:noFill/>
        </p:spPr>
        <p:txBody>
          <a:bodyPr wrap="square">
            <a:spAutoFit/>
          </a:bodyPr>
          <a:lstStyle/>
          <a:p>
            <a:pPr algn="ctr"/>
            <a:r>
              <a:rPr sz="2000" b="1" i="0">
                <a:solidFill>
                  <a:srgbClr val="FFFFFF"/>
                </a:solidFill>
              </a:rPr>
              <a:t>5</a:t>
            </a:r>
          </a:p>
        </p:txBody>
      </p:sp>
      <p:sp>
        <p:nvSpPr>
          <p:cNvPr id="9" name="TextBox 8"/>
          <p:cNvSpPr txBox="1"/>
          <p:nvPr/>
        </p:nvSpPr>
        <p:spPr>
          <a:xfrm>
            <a:off x="3209544" y="1344168"/>
            <a:ext cx="2596896" cy="475488"/>
          </a:xfrm>
          <a:prstGeom prst="rect">
            <a:avLst/>
          </a:prstGeom>
          <a:noFill/>
        </p:spPr>
        <p:txBody>
          <a:bodyPr wrap="square">
            <a:spAutoFit/>
          </a:bodyPr>
          <a:lstStyle/>
          <a:p>
            <a:pPr algn="ctr"/>
            <a:r>
              <a:rPr sz="800" b="0" i="0">
                <a:solidFill>
                  <a:srgbClr val="AFBECD"/>
                </a:solidFill>
              </a:rPr>
              <a:t>CRC Fraud pathways — incl. multi-project reuse</a:t>
            </a:r>
          </a:p>
        </p:txBody>
      </p:sp>
      <p:sp>
        <p:nvSpPr>
          <p:cNvPr id="10" name="Rectangle 9"/>
          <p:cNvSpPr/>
          <p:nvPr/>
        </p:nvSpPr>
        <p:spPr>
          <a:xfrm>
            <a:off x="5998464" y="685800"/>
            <a:ext cx="2743200" cy="1188720"/>
          </a:xfrm>
          <a:prstGeom prst="rect">
            <a:avLst/>
          </a:prstGeom>
          <a:solidFill>
            <a:srgbClr val="285080"/>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71616" y="758952"/>
            <a:ext cx="2596896" cy="594360"/>
          </a:xfrm>
          <a:prstGeom prst="rect">
            <a:avLst/>
          </a:prstGeom>
          <a:noFill/>
        </p:spPr>
        <p:txBody>
          <a:bodyPr wrap="square">
            <a:spAutoFit/>
          </a:bodyPr>
          <a:lstStyle/>
          <a:p>
            <a:pPr algn="ctr"/>
            <a:r>
              <a:rPr sz="2000" b="1" i="0">
                <a:solidFill>
                  <a:srgbClr val="FFFFFF"/>
                </a:solidFill>
              </a:rPr>
              <a:t>0</a:t>
            </a:r>
          </a:p>
        </p:txBody>
      </p:sp>
      <p:sp>
        <p:nvSpPr>
          <p:cNvPr id="12" name="TextBox 11"/>
          <p:cNvSpPr txBox="1"/>
          <p:nvPr/>
        </p:nvSpPr>
        <p:spPr>
          <a:xfrm>
            <a:off x="6071616" y="1344168"/>
            <a:ext cx="2596896" cy="475488"/>
          </a:xfrm>
          <a:prstGeom prst="rect">
            <a:avLst/>
          </a:prstGeom>
          <a:noFill/>
        </p:spPr>
        <p:txBody>
          <a:bodyPr wrap="square">
            <a:spAutoFit/>
          </a:bodyPr>
          <a:lstStyle/>
          <a:p>
            <a:pPr algn="ctr"/>
            <a:r>
              <a:rPr sz="800" b="0" i="0">
                <a:solidFill>
                  <a:srgbClr val="AFBECD"/>
                </a:solidFill>
              </a:rPr>
              <a:t>QC Test Abstracts routinely uploaded</a:t>
            </a:r>
          </a:p>
        </p:txBody>
      </p:sp>
      <p:sp>
        <p:nvSpPr>
          <p:cNvPr id="13" name="Rectangle 12"/>
          <p:cNvSpPr/>
          <p:nvPr/>
        </p:nvSpPr>
        <p:spPr>
          <a:xfrm>
            <a:off x="8860536" y="685800"/>
            <a:ext cx="2743200" cy="1188720"/>
          </a:xfrm>
          <a:prstGeom prst="rect">
            <a:avLst/>
          </a:prstGeom>
          <a:solidFill>
            <a:srgbClr val="285080"/>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33688" y="758952"/>
            <a:ext cx="2596896" cy="594360"/>
          </a:xfrm>
          <a:prstGeom prst="rect">
            <a:avLst/>
          </a:prstGeom>
          <a:noFill/>
        </p:spPr>
        <p:txBody>
          <a:bodyPr wrap="square">
            <a:spAutoFit/>
          </a:bodyPr>
          <a:lstStyle/>
          <a:p>
            <a:pPr algn="ctr"/>
            <a:r>
              <a:rPr sz="2000" b="1" i="0">
                <a:solidFill>
                  <a:srgbClr val="FFFFFF"/>
                </a:solidFill>
              </a:rPr>
              <a:t>CRC</a:t>
            </a:r>
          </a:p>
        </p:txBody>
      </p:sp>
      <p:sp>
        <p:nvSpPr>
          <p:cNvPr id="15" name="TextBox 14"/>
          <p:cNvSpPr txBox="1"/>
          <p:nvPr/>
        </p:nvSpPr>
        <p:spPr>
          <a:xfrm>
            <a:off x="8933688" y="1344168"/>
            <a:ext cx="2596896" cy="475488"/>
          </a:xfrm>
          <a:prstGeom prst="rect">
            <a:avLst/>
          </a:prstGeom>
          <a:noFill/>
        </p:spPr>
        <p:txBody>
          <a:bodyPr wrap="square">
            <a:spAutoFit/>
          </a:bodyPr>
          <a:lstStyle/>
          <a:p>
            <a:pPr algn="ctr"/>
            <a:r>
              <a:rPr sz="800" b="0" i="0">
                <a:solidFill>
                  <a:srgbClr val="AFBECD"/>
                </a:solidFill>
              </a:rPr>
              <a:t>Bitumen CRC — Single Mother of Corruption</a:t>
            </a:r>
          </a:p>
        </p:txBody>
      </p:sp>
      <p:sp>
        <p:nvSpPr>
          <p:cNvPr id="16" name="Rectangle 15"/>
          <p:cNvSpPr/>
          <p:nvPr/>
        </p:nvSpPr>
        <p:spPr>
          <a:xfrm>
            <a:off x="274320" y="2020824"/>
            <a:ext cx="2743200" cy="1188720"/>
          </a:xfrm>
          <a:prstGeom prst="rect">
            <a:avLst/>
          </a:prstGeom>
          <a:solidFill>
            <a:srgbClr val="285080"/>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47472" y="2093976"/>
            <a:ext cx="2596896" cy="594360"/>
          </a:xfrm>
          <a:prstGeom prst="rect">
            <a:avLst/>
          </a:prstGeom>
          <a:noFill/>
        </p:spPr>
        <p:txBody>
          <a:bodyPr wrap="square">
            <a:spAutoFit/>
          </a:bodyPr>
          <a:lstStyle/>
          <a:p>
            <a:pPr algn="ctr"/>
            <a:r>
              <a:rPr sz="2000" b="1" i="0">
                <a:solidFill>
                  <a:srgbClr val="FFFFFF"/>
                </a:solidFill>
              </a:rPr>
              <a:t>15 Yrs</a:t>
            </a:r>
          </a:p>
        </p:txBody>
      </p:sp>
      <p:sp>
        <p:nvSpPr>
          <p:cNvPr id="18" name="TextBox 17"/>
          <p:cNvSpPr txBox="1"/>
          <p:nvPr/>
        </p:nvSpPr>
        <p:spPr>
          <a:xfrm>
            <a:off x="347472" y="2679191"/>
            <a:ext cx="2596896" cy="475488"/>
          </a:xfrm>
          <a:prstGeom prst="rect">
            <a:avLst/>
          </a:prstGeom>
          <a:noFill/>
        </p:spPr>
        <p:txBody>
          <a:bodyPr wrap="square">
            <a:spAutoFit/>
          </a:bodyPr>
          <a:lstStyle/>
          <a:p>
            <a:pPr algn="ctr"/>
            <a:r>
              <a:rPr sz="800" b="0" i="0">
                <a:solidFill>
                  <a:srgbClr val="AFBECD"/>
                </a:solidFill>
              </a:rPr>
              <a:t>Online payments — ZERO Contractor Ledger built</a:t>
            </a:r>
          </a:p>
        </p:txBody>
      </p:sp>
      <p:sp>
        <p:nvSpPr>
          <p:cNvPr id="19" name="Rectangle 18"/>
          <p:cNvSpPr/>
          <p:nvPr/>
        </p:nvSpPr>
        <p:spPr>
          <a:xfrm>
            <a:off x="3136391" y="2020824"/>
            <a:ext cx="2743200" cy="1188720"/>
          </a:xfrm>
          <a:prstGeom prst="rect">
            <a:avLst/>
          </a:prstGeom>
          <a:solidFill>
            <a:srgbClr val="285080"/>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209544" y="2093976"/>
            <a:ext cx="2596896" cy="594360"/>
          </a:xfrm>
          <a:prstGeom prst="rect">
            <a:avLst/>
          </a:prstGeom>
          <a:noFill/>
        </p:spPr>
        <p:txBody>
          <a:bodyPr wrap="square">
            <a:spAutoFit/>
          </a:bodyPr>
          <a:lstStyle/>
          <a:p>
            <a:pPr algn="ctr"/>
            <a:r>
              <a:rPr sz="2000" b="1" i="0">
                <a:solidFill>
                  <a:srgbClr val="FFFFFF"/>
                </a:solidFill>
              </a:rPr>
              <a:t>EMD+SD</a:t>
            </a:r>
          </a:p>
        </p:txBody>
      </p:sp>
      <p:sp>
        <p:nvSpPr>
          <p:cNvPr id="21" name="TextBox 20"/>
          <p:cNvSpPr txBox="1"/>
          <p:nvPr/>
        </p:nvSpPr>
        <p:spPr>
          <a:xfrm>
            <a:off x="3209544" y="2679191"/>
            <a:ext cx="2596896" cy="475488"/>
          </a:xfrm>
          <a:prstGeom prst="rect">
            <a:avLst/>
          </a:prstGeom>
          <a:noFill/>
        </p:spPr>
        <p:txBody>
          <a:bodyPr wrap="square">
            <a:spAutoFit/>
          </a:bodyPr>
          <a:lstStyle/>
          <a:p>
            <a:pPr algn="ctr"/>
            <a:r>
              <a:rPr sz="800" b="0" i="0">
                <a:solidFill>
                  <a:srgbClr val="AFBECD"/>
                </a:solidFill>
              </a:rPr>
              <a:t>Dormant deposits — no ledger, no statement, no refund</a:t>
            </a:r>
          </a:p>
        </p:txBody>
      </p:sp>
      <p:sp>
        <p:nvSpPr>
          <p:cNvPr id="22" name="Rectangle 21"/>
          <p:cNvSpPr/>
          <p:nvPr/>
        </p:nvSpPr>
        <p:spPr>
          <a:xfrm>
            <a:off x="5998464" y="2020824"/>
            <a:ext cx="2743200" cy="1188720"/>
          </a:xfrm>
          <a:prstGeom prst="rect">
            <a:avLst/>
          </a:prstGeom>
          <a:solidFill>
            <a:srgbClr val="285080"/>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071616" y="2093976"/>
            <a:ext cx="2596896" cy="594360"/>
          </a:xfrm>
          <a:prstGeom prst="rect">
            <a:avLst/>
          </a:prstGeom>
          <a:noFill/>
        </p:spPr>
        <p:txBody>
          <a:bodyPr wrap="square">
            <a:spAutoFit/>
          </a:bodyPr>
          <a:lstStyle/>
          <a:p>
            <a:pPr algn="ctr"/>
            <a:r>
              <a:rPr sz="2000" b="1" i="0">
                <a:solidFill>
                  <a:srgbClr val="FFFFFF"/>
                </a:solidFill>
              </a:rPr>
              <a:t>~200</a:t>
            </a:r>
          </a:p>
        </p:txBody>
      </p:sp>
      <p:sp>
        <p:nvSpPr>
          <p:cNvPr id="24" name="TextBox 23"/>
          <p:cNvSpPr txBox="1"/>
          <p:nvPr/>
        </p:nvSpPr>
        <p:spPr>
          <a:xfrm>
            <a:off x="6071616" y="2679191"/>
            <a:ext cx="2596896" cy="475488"/>
          </a:xfrm>
          <a:prstGeom prst="rect">
            <a:avLst/>
          </a:prstGeom>
          <a:noFill/>
        </p:spPr>
        <p:txBody>
          <a:bodyPr wrap="square">
            <a:spAutoFit/>
          </a:bodyPr>
          <a:lstStyle/>
          <a:p>
            <a:pPr algn="ctr"/>
            <a:r>
              <a:rPr sz="800" b="0" i="0">
                <a:solidFill>
                  <a:srgbClr val="AFBECD"/>
                </a:solidFill>
              </a:rPr>
              <a:t>Contracts rescinded — ZERO recovery monitoring</a:t>
            </a:r>
          </a:p>
        </p:txBody>
      </p:sp>
      <p:sp>
        <p:nvSpPr>
          <p:cNvPr id="25" name="Rectangle 24"/>
          <p:cNvSpPr/>
          <p:nvPr/>
        </p:nvSpPr>
        <p:spPr>
          <a:xfrm>
            <a:off x="8860536" y="2020824"/>
            <a:ext cx="2743200" cy="1188720"/>
          </a:xfrm>
          <a:prstGeom prst="rect">
            <a:avLst/>
          </a:prstGeom>
          <a:solidFill>
            <a:srgbClr val="285080"/>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933688" y="2093976"/>
            <a:ext cx="2596896" cy="594360"/>
          </a:xfrm>
          <a:prstGeom prst="rect">
            <a:avLst/>
          </a:prstGeom>
          <a:noFill/>
        </p:spPr>
        <p:txBody>
          <a:bodyPr wrap="square">
            <a:spAutoFit/>
          </a:bodyPr>
          <a:lstStyle/>
          <a:p>
            <a:pPr algn="ctr"/>
            <a:r>
              <a:rPr sz="2000" b="1" i="0">
                <a:solidFill>
                  <a:srgbClr val="FFFFFF"/>
                </a:solidFill>
              </a:rPr>
              <a:t>90 Days</a:t>
            </a:r>
          </a:p>
        </p:txBody>
      </p:sp>
      <p:sp>
        <p:nvSpPr>
          <p:cNvPr id="27" name="TextBox 26"/>
          <p:cNvSpPr txBox="1"/>
          <p:nvPr/>
        </p:nvSpPr>
        <p:spPr>
          <a:xfrm>
            <a:off x="8933688" y="2679191"/>
            <a:ext cx="2596896" cy="475488"/>
          </a:xfrm>
          <a:prstGeom prst="rect">
            <a:avLst/>
          </a:prstGeom>
          <a:noFill/>
        </p:spPr>
        <p:txBody>
          <a:bodyPr wrap="square">
            <a:spAutoFit/>
          </a:bodyPr>
          <a:lstStyle/>
          <a:p>
            <a:pPr algn="ctr"/>
            <a:r>
              <a:rPr sz="800" b="0" i="0">
                <a:solidFill>
                  <a:srgbClr val="AFBECD"/>
                </a:solidFill>
              </a:rPr>
              <a:t>Time to build Recovery Portal — never done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93992"/>
            <a:ext cx="12188952" cy="6400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74320" y="137160"/>
            <a:ext cx="1005840" cy="402336"/>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137160"/>
            <a:ext cx="1005840" cy="402336"/>
          </a:xfrm>
          <a:prstGeom prst="rect">
            <a:avLst/>
          </a:prstGeom>
          <a:noFill/>
        </p:spPr>
        <p:txBody>
          <a:bodyPr wrap="square">
            <a:spAutoFit/>
          </a:bodyPr>
          <a:lstStyle/>
          <a:p>
            <a:pPr algn="ctr"/>
            <a:r>
              <a:rPr sz="1000" b="1" i="0">
                <a:solidFill>
                  <a:srgbClr val="FFFFFF"/>
                </a:solidFill>
              </a:rPr>
              <a:t>Ch.1</a:t>
            </a:r>
          </a:p>
        </p:txBody>
      </p:sp>
      <p:sp>
        <p:nvSpPr>
          <p:cNvPr id="6" name="TextBox 5"/>
          <p:cNvSpPr txBox="1"/>
          <p:nvPr/>
        </p:nvSpPr>
        <p:spPr>
          <a:xfrm>
            <a:off x="1417320" y="109728"/>
            <a:ext cx="10424160" cy="530352"/>
          </a:xfrm>
          <a:prstGeom prst="rect">
            <a:avLst/>
          </a:prstGeom>
          <a:noFill/>
        </p:spPr>
        <p:txBody>
          <a:bodyPr wrap="square">
            <a:spAutoFit/>
          </a:bodyPr>
          <a:lstStyle/>
          <a:p>
            <a:pPr algn="l"/>
            <a:r>
              <a:rPr sz="1700" b="1" i="0">
                <a:solidFill>
                  <a:srgbClr val="FFFFFF"/>
                </a:solidFill>
              </a:rPr>
              <a:t>eMB का वादा और ज़मीनी हकीकत</a:t>
            </a:r>
          </a:p>
        </p:txBody>
      </p:sp>
      <p:sp>
        <p:nvSpPr>
          <p:cNvPr id="7" name="TextBox 6"/>
          <p:cNvSpPr txBox="1"/>
          <p:nvPr/>
        </p:nvSpPr>
        <p:spPr>
          <a:xfrm>
            <a:off x="1417320" y="612648"/>
            <a:ext cx="10424160" cy="402336"/>
          </a:xfrm>
          <a:prstGeom prst="rect">
            <a:avLst/>
          </a:prstGeom>
          <a:noFill/>
        </p:spPr>
        <p:txBody>
          <a:bodyPr wrap="square">
            <a:spAutoFit/>
          </a:bodyPr>
          <a:lstStyle/>
          <a:p>
            <a:pPr algn="l"/>
            <a:r>
              <a:rPr sz="1150" b="1" i="0">
                <a:solidFill>
                  <a:srgbClr val="A0C8DC"/>
                </a:solidFill>
              </a:rPr>
              <a:t>e-MB Promise vs Ground Reality</a:t>
            </a:r>
          </a:p>
        </p:txBody>
      </p:sp>
      <p:sp>
        <p:nvSpPr>
          <p:cNvPr id="8" name="Rectangle 7"/>
          <p:cNvSpPr/>
          <p:nvPr/>
        </p:nvSpPr>
        <p:spPr>
          <a:xfrm>
            <a:off x="274320" y="1133856"/>
            <a:ext cx="11640312" cy="2743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4320" y="1234440"/>
            <a:ext cx="5669280" cy="5120640"/>
          </a:xfrm>
          <a:prstGeom prst="rect">
            <a:avLst/>
          </a:prstGeom>
          <a:noFill/>
        </p:spPr>
        <p:txBody>
          <a:bodyPr wrap="square">
            <a:spAutoFit/>
          </a:bodyPr>
          <a:lstStyle/>
          <a:p>
            <a:pPr algn="l"/>
            <a:r>
              <a:rPr sz="1050" b="0" i="0">
                <a:solidFill>
                  <a:srgbClr val="DAE0E6"/>
                </a:solidFill>
              </a:rPr>
              <a:t>eMB पारदर्शिता लाने के लिए था। इसकी जगह यह एक sanitised abstract तैयार करता है
जो fraud छुपाता है।</a:t>
            </a:r>
          </a:p>
        </p:txBody>
      </p:sp>
      <p:sp>
        <p:nvSpPr>
          <p:cNvPr id="10" name="TextBox 9"/>
          <p:cNvSpPr txBox="1"/>
          <p:nvPr/>
        </p:nvSpPr>
        <p:spPr>
          <a:xfrm>
            <a:off x="6217920" y="1234440"/>
            <a:ext cx="5669280" cy="5120640"/>
          </a:xfrm>
          <a:prstGeom prst="rect">
            <a:avLst/>
          </a:prstGeom>
          <a:noFill/>
        </p:spPr>
        <p:txBody>
          <a:bodyPr wrap="square">
            <a:spAutoFit/>
          </a:bodyPr>
          <a:lstStyle/>
          <a:p>
            <a:pPr algn="l"/>
            <a:r>
              <a:rPr sz="1000" b="0" i="1">
                <a:solidFill>
                  <a:srgbClr val="A8B9C3"/>
                </a:solidFill>
              </a:rPr>
              <a:t>The Electronic Measurement Book was designed to bring transparency, accuracy
and accountability. Instead it produces a sanitised abstract that conceals
exactly what is needed to detect over-measurement, quality shortfalls, and
bitumen manipulation.</a:t>
            </a:r>
          </a:p>
        </p:txBody>
      </p:sp>
      <p:sp>
        <p:nvSpPr>
          <p:cNvPr id="11" name="Rectangle 10"/>
          <p:cNvSpPr/>
          <p:nvPr/>
        </p:nvSpPr>
        <p:spPr>
          <a:xfrm>
            <a:off x="6035040" y="1234440"/>
            <a:ext cx="27432" cy="512064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881360" y="6492240"/>
            <a:ext cx="1188720" cy="274320"/>
          </a:xfrm>
          <a:prstGeom prst="rect">
            <a:avLst/>
          </a:prstGeom>
          <a:noFill/>
        </p:spPr>
        <p:txBody>
          <a:bodyPr wrap="square">
            <a:spAutoFit/>
          </a:bodyPr>
          <a:lstStyle/>
          <a:p>
            <a:pPr algn="r"/>
            <a:r>
              <a:rPr sz="800" b="0" i="0">
                <a:solidFill>
                  <a:srgbClr val="647382"/>
                </a:solidFill>
              </a:rPr>
              <a:t>Slide 3 / 13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A2E5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93992"/>
            <a:ext cx="12188952" cy="6400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74320" y="137160"/>
            <a:ext cx="1005840" cy="402336"/>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137160"/>
            <a:ext cx="1005840" cy="402336"/>
          </a:xfrm>
          <a:prstGeom prst="rect">
            <a:avLst/>
          </a:prstGeom>
          <a:noFill/>
        </p:spPr>
        <p:txBody>
          <a:bodyPr wrap="square">
            <a:spAutoFit/>
          </a:bodyPr>
          <a:lstStyle/>
          <a:p>
            <a:pPr algn="ctr"/>
            <a:r>
              <a:rPr sz="1000" b="1" i="0">
                <a:solidFill>
                  <a:srgbClr val="FFFFFF"/>
                </a:solidFill>
              </a:rPr>
              <a:t>Ch.2</a:t>
            </a:r>
          </a:p>
        </p:txBody>
      </p:sp>
      <p:sp>
        <p:nvSpPr>
          <p:cNvPr id="6" name="TextBox 5"/>
          <p:cNvSpPr txBox="1"/>
          <p:nvPr/>
        </p:nvSpPr>
        <p:spPr>
          <a:xfrm>
            <a:off x="1417320" y="109728"/>
            <a:ext cx="10424160" cy="530352"/>
          </a:xfrm>
          <a:prstGeom prst="rect">
            <a:avLst/>
          </a:prstGeom>
          <a:noFill/>
        </p:spPr>
        <p:txBody>
          <a:bodyPr wrap="square">
            <a:spAutoFit/>
          </a:bodyPr>
          <a:lstStyle/>
          <a:p>
            <a:pPr algn="l"/>
            <a:r>
              <a:rPr sz="1700" b="1" i="0">
                <a:solidFill>
                  <a:srgbClr val="FFFFFF"/>
                </a:solidFill>
              </a:rPr>
              <a:t>Abstract-Only Billing — बिना नींव की डिजिटल इमारत</a:t>
            </a:r>
          </a:p>
        </p:txBody>
      </p:sp>
      <p:sp>
        <p:nvSpPr>
          <p:cNvPr id="7" name="TextBox 6"/>
          <p:cNvSpPr txBox="1"/>
          <p:nvPr/>
        </p:nvSpPr>
        <p:spPr>
          <a:xfrm>
            <a:off x="1417320" y="612648"/>
            <a:ext cx="10424160" cy="402336"/>
          </a:xfrm>
          <a:prstGeom prst="rect">
            <a:avLst/>
          </a:prstGeom>
          <a:noFill/>
        </p:spPr>
        <p:txBody>
          <a:bodyPr wrap="square">
            <a:spAutoFit/>
          </a:bodyPr>
          <a:lstStyle/>
          <a:p>
            <a:pPr algn="l"/>
            <a:r>
              <a:rPr sz="1150" b="1" i="0">
                <a:solidFill>
                  <a:srgbClr val="A0C8DC"/>
                </a:solidFill>
              </a:rPr>
              <a:t>Abstract-Only Billing — Digital Building Without Foundation</a:t>
            </a:r>
          </a:p>
        </p:txBody>
      </p:sp>
      <p:sp>
        <p:nvSpPr>
          <p:cNvPr id="8" name="Rectangle 7"/>
          <p:cNvSpPr/>
          <p:nvPr/>
        </p:nvSpPr>
        <p:spPr>
          <a:xfrm>
            <a:off x="274320" y="1133856"/>
            <a:ext cx="11640312" cy="2743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4320" y="1234440"/>
            <a:ext cx="5669280" cy="5120640"/>
          </a:xfrm>
          <a:prstGeom prst="rect">
            <a:avLst/>
          </a:prstGeom>
          <a:noFill/>
        </p:spPr>
        <p:txBody>
          <a:bodyPr wrap="square">
            <a:spAutoFit/>
          </a:bodyPr>
          <a:lstStyle/>
          <a:p>
            <a:pPr algn="l"/>
            <a:r>
              <a:rPr sz="1050" b="0" i="0">
                <a:solidFill>
                  <a:srgbClr val="DAE0E6"/>
                </a:solidFill>
              </a:rPr>
              <a:t>eMB में missing: Chainage-wise quantities, Layer-wise thickness, Cross-
sections, Progressive totals। दो अनिवार्य actions: Original bill upload +
Physical MB PDF।</a:t>
            </a:r>
          </a:p>
        </p:txBody>
      </p:sp>
      <p:sp>
        <p:nvSpPr>
          <p:cNvPr id="10" name="TextBox 9"/>
          <p:cNvSpPr txBox="1"/>
          <p:nvPr/>
        </p:nvSpPr>
        <p:spPr>
          <a:xfrm>
            <a:off x="6217920" y="1234440"/>
            <a:ext cx="5669280" cy="5120640"/>
          </a:xfrm>
          <a:prstGeom prst="rect">
            <a:avLst/>
          </a:prstGeom>
          <a:noFill/>
        </p:spPr>
        <p:txBody>
          <a:bodyPr wrap="square">
            <a:spAutoFit/>
          </a:bodyPr>
          <a:lstStyle/>
          <a:p>
            <a:pPr algn="l"/>
            <a:r>
              <a:rPr sz="1000" b="0" i="1">
                <a:solidFill>
                  <a:srgbClr val="A8B9C3"/>
                </a:solidFill>
              </a:rPr>
              <a:t>Missing from e-MB: chainage-wise quantities, layer-wise thicknesses, cross-
sectional measurements, progressive totals. Two non-negotiable actions when
full digital entry is impractical: (1) Upload contractor's original bill in
full. (2) Upload complete physical MB as PDF.</a:t>
            </a:r>
          </a:p>
        </p:txBody>
      </p:sp>
      <p:sp>
        <p:nvSpPr>
          <p:cNvPr id="11" name="Rectangle 10"/>
          <p:cNvSpPr/>
          <p:nvPr/>
        </p:nvSpPr>
        <p:spPr>
          <a:xfrm>
            <a:off x="6035040" y="1234440"/>
            <a:ext cx="27432" cy="512064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881360" y="6492240"/>
            <a:ext cx="1188720" cy="274320"/>
          </a:xfrm>
          <a:prstGeom prst="rect">
            <a:avLst/>
          </a:prstGeom>
          <a:noFill/>
        </p:spPr>
        <p:txBody>
          <a:bodyPr wrap="square">
            <a:spAutoFit/>
          </a:bodyPr>
          <a:lstStyle/>
          <a:p>
            <a:pPr algn="r"/>
            <a:r>
              <a:rPr sz="800" b="0" i="0">
                <a:solidFill>
                  <a:srgbClr val="647382"/>
                </a:solidFill>
              </a:rPr>
              <a:t>Slide 4 / 13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22442"/>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93992"/>
            <a:ext cx="12188952" cy="6400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74320" y="137160"/>
            <a:ext cx="1005840" cy="402336"/>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137160"/>
            <a:ext cx="1005840" cy="402336"/>
          </a:xfrm>
          <a:prstGeom prst="rect">
            <a:avLst/>
          </a:prstGeom>
          <a:noFill/>
        </p:spPr>
        <p:txBody>
          <a:bodyPr wrap="square">
            <a:spAutoFit/>
          </a:bodyPr>
          <a:lstStyle/>
          <a:p>
            <a:pPr algn="ctr"/>
            <a:r>
              <a:rPr sz="1000" b="1" i="0">
                <a:solidFill>
                  <a:srgbClr val="FFFFFF"/>
                </a:solidFill>
              </a:rPr>
              <a:t>Ch.3</a:t>
            </a:r>
          </a:p>
        </p:txBody>
      </p:sp>
      <p:sp>
        <p:nvSpPr>
          <p:cNvPr id="6" name="TextBox 5"/>
          <p:cNvSpPr txBox="1"/>
          <p:nvPr/>
        </p:nvSpPr>
        <p:spPr>
          <a:xfrm>
            <a:off x="1417320" y="109728"/>
            <a:ext cx="10424160" cy="530352"/>
          </a:xfrm>
          <a:prstGeom prst="rect">
            <a:avLst/>
          </a:prstGeom>
          <a:noFill/>
        </p:spPr>
        <p:txBody>
          <a:bodyPr wrap="square">
            <a:spAutoFit/>
          </a:bodyPr>
          <a:lstStyle/>
          <a:p>
            <a:pPr algn="l"/>
            <a:r>
              <a:rPr sz="1700" b="1" i="0">
                <a:solidFill>
                  <a:srgbClr val="FFFFFF"/>
                </a:solidFill>
              </a:rPr>
              <a:t>Missing QC Records — गुणवत्ता कागज़ पर, ज़मीन पर नहीं</a:t>
            </a:r>
          </a:p>
        </p:txBody>
      </p:sp>
      <p:sp>
        <p:nvSpPr>
          <p:cNvPr id="7" name="TextBox 6"/>
          <p:cNvSpPr txBox="1"/>
          <p:nvPr/>
        </p:nvSpPr>
        <p:spPr>
          <a:xfrm>
            <a:off x="1417320" y="612648"/>
            <a:ext cx="10424160" cy="402336"/>
          </a:xfrm>
          <a:prstGeom prst="rect">
            <a:avLst/>
          </a:prstGeom>
          <a:noFill/>
        </p:spPr>
        <p:txBody>
          <a:bodyPr wrap="square">
            <a:spAutoFit/>
          </a:bodyPr>
          <a:lstStyle/>
          <a:p>
            <a:pPr algn="l"/>
            <a:r>
              <a:rPr sz="1150" b="1" i="0">
                <a:solidFill>
                  <a:srgbClr val="A0C8DC"/>
                </a:solidFill>
              </a:rPr>
              <a:t>Missing QC Test Records — Quality Only on Paper</a:t>
            </a:r>
          </a:p>
        </p:txBody>
      </p:sp>
      <p:sp>
        <p:nvSpPr>
          <p:cNvPr id="8" name="Rectangle 7"/>
          <p:cNvSpPr/>
          <p:nvPr/>
        </p:nvSpPr>
        <p:spPr>
          <a:xfrm>
            <a:off x="274320" y="1133856"/>
            <a:ext cx="11640312" cy="2743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4320" y="1234440"/>
            <a:ext cx="5669280" cy="5120640"/>
          </a:xfrm>
          <a:prstGeom prst="rect">
            <a:avLst/>
          </a:prstGeom>
          <a:noFill/>
        </p:spPr>
        <p:txBody>
          <a:bodyPr wrap="square">
            <a:spAutoFit/>
          </a:bodyPr>
          <a:lstStyle/>
          <a:p>
            <a:pPr algn="l"/>
            <a:r>
              <a:rPr sz="1050" b="0" i="0">
                <a:solidFill>
                  <a:srgbClr val="DAE0E6"/>
                </a:solidFill>
              </a:rPr>
              <a:t>Grade, density, Marshall stability, binder content — test results absent।
Quality केवल कागज़ पर।</a:t>
            </a:r>
          </a:p>
        </p:txBody>
      </p:sp>
      <p:sp>
        <p:nvSpPr>
          <p:cNvPr id="10" name="TextBox 9"/>
          <p:cNvSpPr txBox="1"/>
          <p:nvPr/>
        </p:nvSpPr>
        <p:spPr>
          <a:xfrm>
            <a:off x="6217920" y="1234440"/>
            <a:ext cx="5669280" cy="5120640"/>
          </a:xfrm>
          <a:prstGeom prst="rect">
            <a:avLst/>
          </a:prstGeom>
          <a:noFill/>
        </p:spPr>
        <p:txBody>
          <a:bodyPr wrap="square">
            <a:spAutoFit/>
          </a:bodyPr>
          <a:lstStyle/>
          <a:p>
            <a:pPr algn="l"/>
            <a:r>
              <a:rPr sz="1000" b="0" i="1">
                <a:solidFill>
                  <a:srgbClr val="A8B9C3"/>
                </a:solidFill>
              </a:rPr>
              <a:t>Laboratory test results for bitumen grade, density, Marshall stability, and
binder content are routinely absent. No accessible record of whether materials
met specified standards. QC exists only on paper.</a:t>
            </a:r>
          </a:p>
        </p:txBody>
      </p:sp>
      <p:sp>
        <p:nvSpPr>
          <p:cNvPr id="11" name="Rectangle 10"/>
          <p:cNvSpPr/>
          <p:nvPr/>
        </p:nvSpPr>
        <p:spPr>
          <a:xfrm>
            <a:off x="6035040" y="1234440"/>
            <a:ext cx="27432" cy="512064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881360" y="6492240"/>
            <a:ext cx="1188720" cy="274320"/>
          </a:xfrm>
          <a:prstGeom prst="rect">
            <a:avLst/>
          </a:prstGeom>
          <a:noFill/>
        </p:spPr>
        <p:txBody>
          <a:bodyPr wrap="square">
            <a:spAutoFit/>
          </a:bodyPr>
          <a:lstStyle/>
          <a:p>
            <a:pPr algn="r"/>
            <a:r>
              <a:rPr sz="800" b="0" i="0">
                <a:solidFill>
                  <a:srgbClr val="647382"/>
                </a:solidFill>
              </a:rPr>
              <a:t>Slide 5 / 13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2A3E"/>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93992"/>
            <a:ext cx="12188952" cy="6400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74320" y="137160"/>
            <a:ext cx="1005840" cy="402336"/>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137160"/>
            <a:ext cx="1005840" cy="402336"/>
          </a:xfrm>
          <a:prstGeom prst="rect">
            <a:avLst/>
          </a:prstGeom>
          <a:noFill/>
        </p:spPr>
        <p:txBody>
          <a:bodyPr wrap="square">
            <a:spAutoFit/>
          </a:bodyPr>
          <a:lstStyle/>
          <a:p>
            <a:pPr algn="ctr"/>
            <a:r>
              <a:rPr sz="1000" b="1" i="0">
                <a:solidFill>
                  <a:srgbClr val="FFFFFF"/>
                </a:solidFill>
              </a:rPr>
              <a:t>Ch.4</a:t>
            </a:r>
          </a:p>
        </p:txBody>
      </p:sp>
      <p:sp>
        <p:nvSpPr>
          <p:cNvPr id="6" name="TextBox 5"/>
          <p:cNvSpPr txBox="1"/>
          <p:nvPr/>
        </p:nvSpPr>
        <p:spPr>
          <a:xfrm>
            <a:off x="1417320" y="109728"/>
            <a:ext cx="10424160" cy="530352"/>
          </a:xfrm>
          <a:prstGeom prst="rect">
            <a:avLst/>
          </a:prstGeom>
          <a:noFill/>
        </p:spPr>
        <p:txBody>
          <a:bodyPr wrap="square">
            <a:spAutoFit/>
          </a:bodyPr>
          <a:lstStyle/>
          <a:p>
            <a:pPr algn="l"/>
            <a:r>
              <a:rPr sz="1700" b="1" i="0">
                <a:solidFill>
                  <a:srgbClr val="FFFFFF"/>
                </a:solidFill>
              </a:rPr>
              <a:t>Bitumen CRC — भ्रष्टाचार की जननी</a:t>
            </a:r>
          </a:p>
        </p:txBody>
      </p:sp>
      <p:sp>
        <p:nvSpPr>
          <p:cNvPr id="7" name="TextBox 6"/>
          <p:cNvSpPr txBox="1"/>
          <p:nvPr/>
        </p:nvSpPr>
        <p:spPr>
          <a:xfrm>
            <a:off x="1417320" y="612648"/>
            <a:ext cx="10424160" cy="402336"/>
          </a:xfrm>
          <a:prstGeom prst="rect">
            <a:avLst/>
          </a:prstGeom>
          <a:noFill/>
        </p:spPr>
        <p:txBody>
          <a:bodyPr wrap="square">
            <a:spAutoFit/>
          </a:bodyPr>
          <a:lstStyle/>
          <a:p>
            <a:pPr algn="l"/>
            <a:r>
              <a:rPr sz="1150" b="1" i="0">
                <a:solidFill>
                  <a:srgbClr val="A0C8DC"/>
                </a:solidFill>
              </a:rPr>
              <a:t>Bitumen CRC — The Single Mother of Corruption</a:t>
            </a:r>
          </a:p>
        </p:txBody>
      </p:sp>
      <p:sp>
        <p:nvSpPr>
          <p:cNvPr id="8" name="Rectangle 7"/>
          <p:cNvSpPr/>
          <p:nvPr/>
        </p:nvSpPr>
        <p:spPr>
          <a:xfrm>
            <a:off x="274320" y="1133856"/>
            <a:ext cx="11640312" cy="2743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4320" y="1234440"/>
            <a:ext cx="5669280" cy="5120640"/>
          </a:xfrm>
          <a:prstGeom prst="rect">
            <a:avLst/>
          </a:prstGeom>
          <a:noFill/>
        </p:spPr>
        <p:txBody>
          <a:bodyPr wrap="square">
            <a:spAutoFit/>
          </a:bodyPr>
          <a:lstStyle/>
          <a:p>
            <a:pPr algn="l"/>
            <a:r>
              <a:rPr sz="1050" b="0" i="0">
                <a:solidFill>
                  <a:srgbClr val="DAE0E6"/>
                </a:solidFill>
              </a:rPr>
              <a:t>Bitumen CRC और Consumption Statement — documentary chain। Absent होने पर
auditor के पास केवल abstract figure। Verification impossible।</a:t>
            </a:r>
          </a:p>
        </p:txBody>
      </p:sp>
      <p:sp>
        <p:nvSpPr>
          <p:cNvPr id="10" name="TextBox 9"/>
          <p:cNvSpPr txBox="1"/>
          <p:nvPr/>
        </p:nvSpPr>
        <p:spPr>
          <a:xfrm>
            <a:off x="6217920" y="1234440"/>
            <a:ext cx="5669280" cy="5120640"/>
          </a:xfrm>
          <a:prstGeom prst="rect">
            <a:avLst/>
          </a:prstGeom>
          <a:noFill/>
        </p:spPr>
        <p:txBody>
          <a:bodyPr wrap="square">
            <a:spAutoFit/>
          </a:bodyPr>
          <a:lstStyle/>
          <a:p>
            <a:pPr algn="l"/>
            <a:r>
              <a:rPr sz="1000" b="0" i="1">
                <a:solidFill>
                  <a:srgbClr val="A8B9C3"/>
                </a:solidFill>
              </a:rPr>
              <a:t>Bitumen CRC (Consignment Receipt Certificate) and Consumption Statement form
the documentary chain proving genuine purchase, delivery, and use. When
absent, auditor has only an abstract figure — 'X MT bitumen used' — with no
way to prove or disprove it.</a:t>
            </a:r>
          </a:p>
        </p:txBody>
      </p:sp>
      <p:sp>
        <p:nvSpPr>
          <p:cNvPr id="11" name="Rectangle 10"/>
          <p:cNvSpPr/>
          <p:nvPr/>
        </p:nvSpPr>
        <p:spPr>
          <a:xfrm>
            <a:off x="6035040" y="1234440"/>
            <a:ext cx="27432" cy="512064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881360" y="6492240"/>
            <a:ext cx="1188720" cy="274320"/>
          </a:xfrm>
          <a:prstGeom prst="rect">
            <a:avLst/>
          </a:prstGeom>
          <a:noFill/>
        </p:spPr>
        <p:txBody>
          <a:bodyPr wrap="square">
            <a:spAutoFit/>
          </a:bodyPr>
          <a:lstStyle/>
          <a:p>
            <a:pPr algn="r"/>
            <a:r>
              <a:rPr sz="800" b="0" i="0">
                <a:solidFill>
                  <a:srgbClr val="647382"/>
                </a:solidFill>
              </a:rPr>
              <a:t>Slide 6 / 13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C1814"/>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93992"/>
            <a:ext cx="12188952" cy="6400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74320" y="137160"/>
            <a:ext cx="1005840" cy="402336"/>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137160"/>
            <a:ext cx="1005840" cy="402336"/>
          </a:xfrm>
          <a:prstGeom prst="rect">
            <a:avLst/>
          </a:prstGeom>
          <a:noFill/>
        </p:spPr>
        <p:txBody>
          <a:bodyPr wrap="square">
            <a:spAutoFit/>
          </a:bodyPr>
          <a:lstStyle/>
          <a:p>
            <a:pPr algn="ctr"/>
            <a:r>
              <a:rPr sz="1000" b="1" i="0">
                <a:solidFill>
                  <a:srgbClr val="FFFFFF"/>
                </a:solidFill>
              </a:rPr>
              <a:t>Ch.5</a:t>
            </a:r>
          </a:p>
        </p:txBody>
      </p:sp>
      <p:sp>
        <p:nvSpPr>
          <p:cNvPr id="6" name="TextBox 5"/>
          <p:cNvSpPr txBox="1"/>
          <p:nvPr/>
        </p:nvSpPr>
        <p:spPr>
          <a:xfrm>
            <a:off x="1417320" y="109728"/>
            <a:ext cx="10424160" cy="530352"/>
          </a:xfrm>
          <a:prstGeom prst="rect">
            <a:avLst/>
          </a:prstGeom>
          <a:noFill/>
        </p:spPr>
        <p:txBody>
          <a:bodyPr wrap="square">
            <a:spAutoFit/>
          </a:bodyPr>
          <a:lstStyle/>
          <a:p>
            <a:pPr algn="l"/>
            <a:r>
              <a:rPr sz="1700" b="1" i="0">
                <a:solidFill>
                  <a:srgbClr val="FFFFFF"/>
                </a:solidFill>
              </a:rPr>
              <a:t>Fraud के पाँच रास्ते — Pathway 5: एक CRC, कई Projects</a:t>
            </a:r>
          </a:p>
        </p:txBody>
      </p:sp>
      <p:sp>
        <p:nvSpPr>
          <p:cNvPr id="7" name="TextBox 6"/>
          <p:cNvSpPr txBox="1"/>
          <p:nvPr/>
        </p:nvSpPr>
        <p:spPr>
          <a:xfrm>
            <a:off x="1417320" y="612648"/>
            <a:ext cx="10424160" cy="402336"/>
          </a:xfrm>
          <a:prstGeom prst="rect">
            <a:avLst/>
          </a:prstGeom>
          <a:noFill/>
        </p:spPr>
        <p:txBody>
          <a:bodyPr wrap="square">
            <a:spAutoFit/>
          </a:bodyPr>
          <a:lstStyle/>
          <a:p>
            <a:pPr algn="l"/>
            <a:r>
              <a:rPr sz="1150" b="1" i="0">
                <a:solidFill>
                  <a:srgbClr val="A0C8DC"/>
                </a:solidFill>
              </a:rPr>
              <a:t>Five Fraud Pathways — incl. Multi-Project CRC Reuse</a:t>
            </a:r>
          </a:p>
        </p:txBody>
      </p:sp>
      <p:sp>
        <p:nvSpPr>
          <p:cNvPr id="8" name="Rectangle 7"/>
          <p:cNvSpPr/>
          <p:nvPr/>
        </p:nvSpPr>
        <p:spPr>
          <a:xfrm>
            <a:off x="274320" y="1133856"/>
            <a:ext cx="11640312" cy="2743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4320" y="1234440"/>
            <a:ext cx="5669280" cy="5120640"/>
          </a:xfrm>
          <a:prstGeom prst="rect">
            <a:avLst/>
          </a:prstGeom>
          <a:noFill/>
        </p:spPr>
        <p:txBody>
          <a:bodyPr wrap="square">
            <a:spAutoFit/>
          </a:bodyPr>
          <a:lstStyle/>
          <a:p>
            <a:pPr algn="l"/>
            <a:r>
              <a:rPr sz="1050" b="0" i="0">
                <a:solidFill>
                  <a:srgbClr val="DAE0E6"/>
                </a:solidFill>
              </a:rPr>
              <a:t>P1: CRC alter। P2: Fake CRC। P3: Verification compromised। P4: 80 MT use, 120
MT claim। P5 (नई — सबसे खतरनाक): एक CRC तीन projects में — 100 MT delivery,
300 MT payment। Centralised CRC Registry के बिना invisible।</a:t>
            </a:r>
          </a:p>
        </p:txBody>
      </p:sp>
      <p:sp>
        <p:nvSpPr>
          <p:cNvPr id="10" name="TextBox 9"/>
          <p:cNvSpPr txBox="1"/>
          <p:nvPr/>
        </p:nvSpPr>
        <p:spPr>
          <a:xfrm>
            <a:off x="6217920" y="1234440"/>
            <a:ext cx="5669280" cy="5120640"/>
          </a:xfrm>
          <a:prstGeom prst="rect">
            <a:avLst/>
          </a:prstGeom>
          <a:noFill/>
        </p:spPr>
        <p:txBody>
          <a:bodyPr wrap="square">
            <a:spAutoFit/>
          </a:bodyPr>
          <a:lstStyle/>
          <a:p>
            <a:pPr algn="l"/>
            <a:r>
              <a:rPr sz="1000" b="0" i="1">
                <a:solidFill>
                  <a:srgbClr val="A8B9C3"/>
                </a:solidFill>
              </a:rPr>
              <a:t>P1: CRC quantity altered. P2: Fake/recycled CRC. P3: Verification officer
compromised. P4: Inflated consumption (80 MT used, 120 MT claimed). P5 NEW
(most dangerous): Same contractor submits same CRC across multiple projects
simultaneously — one 100 MT delivery claimed at 3 projects = 300 MT payment.
Invisible without a centralised statewide CRC registry.</a:t>
            </a:r>
          </a:p>
        </p:txBody>
      </p:sp>
      <p:sp>
        <p:nvSpPr>
          <p:cNvPr id="11" name="Rectangle 10"/>
          <p:cNvSpPr/>
          <p:nvPr/>
        </p:nvSpPr>
        <p:spPr>
          <a:xfrm>
            <a:off x="6035040" y="1234440"/>
            <a:ext cx="27432" cy="512064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881360" y="6492240"/>
            <a:ext cx="1188720" cy="274320"/>
          </a:xfrm>
          <a:prstGeom prst="rect">
            <a:avLst/>
          </a:prstGeom>
          <a:noFill/>
        </p:spPr>
        <p:txBody>
          <a:bodyPr wrap="square">
            <a:spAutoFit/>
          </a:bodyPr>
          <a:lstStyle/>
          <a:p>
            <a:pPr algn="r"/>
            <a:r>
              <a:rPr sz="800" b="0" i="0">
                <a:solidFill>
                  <a:srgbClr val="647382"/>
                </a:solidFill>
              </a:rPr>
              <a:t>Slide 7 / 13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A0533"/>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93992"/>
            <a:ext cx="12188952" cy="6400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74320" y="137160"/>
            <a:ext cx="1005840" cy="402336"/>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137160"/>
            <a:ext cx="1005840" cy="402336"/>
          </a:xfrm>
          <a:prstGeom prst="rect">
            <a:avLst/>
          </a:prstGeom>
          <a:noFill/>
        </p:spPr>
        <p:txBody>
          <a:bodyPr wrap="square">
            <a:spAutoFit/>
          </a:bodyPr>
          <a:lstStyle/>
          <a:p>
            <a:pPr algn="ctr"/>
            <a:r>
              <a:rPr sz="1000" b="1" i="0">
                <a:solidFill>
                  <a:srgbClr val="FFFFFF"/>
                </a:solidFill>
              </a:rPr>
              <a:t>Ch.6</a:t>
            </a:r>
          </a:p>
        </p:txBody>
      </p:sp>
      <p:sp>
        <p:nvSpPr>
          <p:cNvPr id="6" name="TextBox 5"/>
          <p:cNvSpPr txBox="1"/>
          <p:nvPr/>
        </p:nvSpPr>
        <p:spPr>
          <a:xfrm>
            <a:off x="1417320" y="109728"/>
            <a:ext cx="10424160" cy="530352"/>
          </a:xfrm>
          <a:prstGeom prst="rect">
            <a:avLst/>
          </a:prstGeom>
          <a:noFill/>
        </p:spPr>
        <p:txBody>
          <a:bodyPr wrap="square">
            <a:spAutoFit/>
          </a:bodyPr>
          <a:lstStyle/>
          <a:p>
            <a:pPr algn="l"/>
            <a:r>
              <a:rPr sz="1700" b="1" i="0">
                <a:solidFill>
                  <a:srgbClr val="FFFFFF"/>
                </a:solidFill>
              </a:rPr>
              <a:t>सड़कें क्यों टूटती हैं — जनता का असली नुकसान</a:t>
            </a:r>
          </a:p>
        </p:txBody>
      </p:sp>
      <p:sp>
        <p:nvSpPr>
          <p:cNvPr id="7" name="TextBox 6"/>
          <p:cNvSpPr txBox="1"/>
          <p:nvPr/>
        </p:nvSpPr>
        <p:spPr>
          <a:xfrm>
            <a:off x="1417320" y="612648"/>
            <a:ext cx="10424160" cy="402336"/>
          </a:xfrm>
          <a:prstGeom prst="rect">
            <a:avLst/>
          </a:prstGeom>
          <a:noFill/>
        </p:spPr>
        <p:txBody>
          <a:bodyPr wrap="square">
            <a:spAutoFit/>
          </a:bodyPr>
          <a:lstStyle/>
          <a:p>
            <a:pPr algn="l"/>
            <a:r>
              <a:rPr sz="1150" b="1" i="0">
                <a:solidFill>
                  <a:srgbClr val="A0C8DC"/>
                </a:solidFill>
              </a:rPr>
              <a:t>Why Roads Fail — The Real Public Cost</a:t>
            </a:r>
          </a:p>
        </p:txBody>
      </p:sp>
      <p:sp>
        <p:nvSpPr>
          <p:cNvPr id="8" name="Rectangle 7"/>
          <p:cNvSpPr/>
          <p:nvPr/>
        </p:nvSpPr>
        <p:spPr>
          <a:xfrm>
            <a:off x="274320" y="1133856"/>
            <a:ext cx="11640312" cy="2743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4320" y="1234440"/>
            <a:ext cx="5669280" cy="5120640"/>
          </a:xfrm>
          <a:prstGeom prst="rect">
            <a:avLst/>
          </a:prstGeom>
          <a:noFill/>
        </p:spPr>
        <p:txBody>
          <a:bodyPr wrap="square">
            <a:spAutoFit/>
          </a:bodyPr>
          <a:lstStyle/>
          <a:p>
            <a:pPr algn="l"/>
            <a:r>
              <a:rPr sz="1050" b="0" i="0">
                <a:solidFill>
                  <a:srgbClr val="DAE0E6"/>
                </a:solidFill>
              </a:rPr>
              <a:t>Sub-standard bitumen: 10 साल की सड़क 2-3 साल में टूटती है। Double maintenance
cost। Public safety risk। Taxpayer दो बार tax देता है।</a:t>
            </a:r>
          </a:p>
        </p:txBody>
      </p:sp>
      <p:sp>
        <p:nvSpPr>
          <p:cNvPr id="10" name="TextBox 9"/>
          <p:cNvSpPr txBox="1"/>
          <p:nvPr/>
        </p:nvSpPr>
        <p:spPr>
          <a:xfrm>
            <a:off x="6217920" y="1234440"/>
            <a:ext cx="5669280" cy="5120640"/>
          </a:xfrm>
          <a:prstGeom prst="rect">
            <a:avLst/>
          </a:prstGeom>
          <a:noFill/>
        </p:spPr>
        <p:txBody>
          <a:bodyPr wrap="square">
            <a:spAutoFit/>
          </a:bodyPr>
          <a:lstStyle/>
          <a:p>
            <a:pPr algn="l"/>
            <a:r>
              <a:rPr sz="1000" b="0" i="1">
                <a:solidFill>
                  <a:srgbClr val="A8B9C3"/>
                </a:solidFill>
              </a:rPr>
              <a:t>Sub-standard bitumen: roads fail years before design life. A 10-year road
lasts 2-3 years. Higher maintenance costs on state. Public safety endangered.
Taxpayer funds the same road twice. When digital system designed to prevent
this becomes a vehicle for concealment, the reform loses all credibility.</a:t>
            </a:r>
          </a:p>
        </p:txBody>
      </p:sp>
      <p:sp>
        <p:nvSpPr>
          <p:cNvPr id="11" name="Rectangle 10"/>
          <p:cNvSpPr/>
          <p:nvPr/>
        </p:nvSpPr>
        <p:spPr>
          <a:xfrm>
            <a:off x="6035040" y="1234440"/>
            <a:ext cx="27432" cy="512064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881360" y="6492240"/>
            <a:ext cx="1188720" cy="274320"/>
          </a:xfrm>
          <a:prstGeom prst="rect">
            <a:avLst/>
          </a:prstGeom>
          <a:noFill/>
        </p:spPr>
        <p:txBody>
          <a:bodyPr wrap="square">
            <a:spAutoFit/>
          </a:bodyPr>
          <a:lstStyle/>
          <a:p>
            <a:pPr algn="r"/>
            <a:r>
              <a:rPr sz="800" b="0" i="0">
                <a:solidFill>
                  <a:srgbClr val="647382"/>
                </a:solidFill>
              </a:rPr>
              <a:t>Slide 8 / 13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4242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93992"/>
            <a:ext cx="12188952" cy="6400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74320" y="137160"/>
            <a:ext cx="1005840" cy="402336"/>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137160"/>
            <a:ext cx="1005840" cy="402336"/>
          </a:xfrm>
          <a:prstGeom prst="rect">
            <a:avLst/>
          </a:prstGeom>
          <a:noFill/>
        </p:spPr>
        <p:txBody>
          <a:bodyPr wrap="square">
            <a:spAutoFit/>
          </a:bodyPr>
          <a:lstStyle/>
          <a:p>
            <a:pPr algn="ctr"/>
            <a:r>
              <a:rPr sz="1000" b="1" i="0">
                <a:solidFill>
                  <a:srgbClr val="FFFFFF"/>
                </a:solidFill>
              </a:rPr>
              <a:t>Ch.6B</a:t>
            </a:r>
          </a:p>
        </p:txBody>
      </p:sp>
      <p:sp>
        <p:nvSpPr>
          <p:cNvPr id="6" name="TextBox 5"/>
          <p:cNvSpPr txBox="1"/>
          <p:nvPr/>
        </p:nvSpPr>
        <p:spPr>
          <a:xfrm>
            <a:off x="1417320" y="109728"/>
            <a:ext cx="10424160" cy="530352"/>
          </a:xfrm>
          <a:prstGeom prst="rect">
            <a:avLst/>
          </a:prstGeom>
          <a:noFill/>
        </p:spPr>
        <p:txBody>
          <a:bodyPr wrap="square">
            <a:spAutoFit/>
          </a:bodyPr>
          <a:lstStyle/>
          <a:p>
            <a:pPr algn="l"/>
            <a:r>
              <a:rPr sz="1700" b="1" i="0">
                <a:solidFill>
                  <a:srgbClr val="FFFFFF"/>
                </a:solidFill>
              </a:rPr>
              <a:t>15 साल, कोई Ledger नहीं — EMD, SD, Dep-V मूक जमा</a:t>
            </a:r>
          </a:p>
        </p:txBody>
      </p:sp>
      <p:sp>
        <p:nvSpPr>
          <p:cNvPr id="7" name="TextBox 6"/>
          <p:cNvSpPr txBox="1"/>
          <p:nvPr/>
        </p:nvSpPr>
        <p:spPr>
          <a:xfrm>
            <a:off x="1417320" y="612648"/>
            <a:ext cx="10424160" cy="402336"/>
          </a:xfrm>
          <a:prstGeom prst="rect">
            <a:avLst/>
          </a:prstGeom>
          <a:noFill/>
        </p:spPr>
        <p:txBody>
          <a:bodyPr wrap="square">
            <a:spAutoFit/>
          </a:bodyPr>
          <a:lstStyle/>
          <a:p>
            <a:pPr algn="l"/>
            <a:r>
              <a:rPr sz="1150" b="1" i="0">
                <a:solidFill>
                  <a:srgbClr val="A0C8DC"/>
                </a:solidFill>
              </a:rPr>
              <a:t>15 Years — Zero Contractor Ledger, Dormant EMD/SD/Dep-V</a:t>
            </a:r>
          </a:p>
        </p:txBody>
      </p:sp>
      <p:sp>
        <p:nvSpPr>
          <p:cNvPr id="8" name="Rectangle 7"/>
          <p:cNvSpPr/>
          <p:nvPr/>
        </p:nvSpPr>
        <p:spPr>
          <a:xfrm>
            <a:off x="274320" y="1133856"/>
            <a:ext cx="11640312" cy="2743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4320" y="1234440"/>
            <a:ext cx="5669280" cy="5120640"/>
          </a:xfrm>
          <a:prstGeom prst="rect">
            <a:avLst/>
          </a:prstGeom>
          <a:noFill/>
        </p:spPr>
        <p:txBody>
          <a:bodyPr wrap="square">
            <a:spAutoFit/>
          </a:bodyPr>
          <a:lstStyle/>
          <a:p>
            <a:pPr algn="l"/>
            <a:r>
              <a:rPr sz="1050" b="0" i="0">
                <a:solidFill>
                  <a:srgbClr val="DAE0E6"/>
                </a:solidFill>
              </a:rPr>
              <a:t>15 वर्ष online payment — Contractor Ledger नहीं। EMD+SD+Dep-V वर्षों तक
dormant। e-Procurement EMD online collect — refund manual। समाधान: Digital
Ledger, 31 March auto-email, e-EMD Refund integration, DLP auto-alerts।</a:t>
            </a:r>
          </a:p>
        </p:txBody>
      </p:sp>
      <p:sp>
        <p:nvSpPr>
          <p:cNvPr id="10" name="TextBox 9"/>
          <p:cNvSpPr txBox="1"/>
          <p:nvPr/>
        </p:nvSpPr>
        <p:spPr>
          <a:xfrm>
            <a:off x="6217920" y="1234440"/>
            <a:ext cx="5669280" cy="5120640"/>
          </a:xfrm>
          <a:prstGeom prst="rect">
            <a:avLst/>
          </a:prstGeom>
          <a:noFill/>
        </p:spPr>
        <p:txBody>
          <a:bodyPr wrap="square">
            <a:spAutoFit/>
          </a:bodyPr>
          <a:lstStyle/>
          <a:p>
            <a:pPr algn="l"/>
            <a:r>
              <a:rPr sz="1000" b="0" i="1">
                <a:solidFill>
                  <a:srgbClr val="A8B9C3"/>
                </a:solidFill>
              </a:rPr>
              <a:t>15 years of online payments — no Contractor Ledger ever built. EMD, Security
Deposit, Dep-V lie dormant when contractor dies, records lost, or track
breaks. Department never volunteers to return them. e-Procurement collects EMD
online but has no e-EMD Refund system. Fix: Digital Ledger per contractor;
mandatory 31-March annual balance email; e-EMD Refund integrated in
e-Procurement; DLP auto-alerts.</a:t>
            </a:r>
          </a:p>
        </p:txBody>
      </p:sp>
      <p:sp>
        <p:nvSpPr>
          <p:cNvPr id="11" name="Rectangle 10"/>
          <p:cNvSpPr/>
          <p:nvPr/>
        </p:nvSpPr>
        <p:spPr>
          <a:xfrm>
            <a:off x="6035040" y="1234440"/>
            <a:ext cx="27432" cy="512064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881360" y="6492240"/>
            <a:ext cx="1188720" cy="274320"/>
          </a:xfrm>
          <a:prstGeom prst="rect">
            <a:avLst/>
          </a:prstGeom>
          <a:noFill/>
        </p:spPr>
        <p:txBody>
          <a:bodyPr wrap="square">
            <a:spAutoFit/>
          </a:bodyPr>
          <a:lstStyle/>
          <a:p>
            <a:pPr algn="r"/>
            <a:r>
              <a:rPr sz="800" b="0" i="0">
                <a:solidFill>
                  <a:srgbClr val="647382"/>
                </a:solidFill>
              </a:rPr>
              <a:t>Slide 9 / 13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281805"/>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93992"/>
            <a:ext cx="12188952" cy="6400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74320" y="137160"/>
            <a:ext cx="1005840" cy="402336"/>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137160"/>
            <a:ext cx="1005840" cy="402336"/>
          </a:xfrm>
          <a:prstGeom prst="rect">
            <a:avLst/>
          </a:prstGeom>
          <a:noFill/>
        </p:spPr>
        <p:txBody>
          <a:bodyPr wrap="square">
            <a:spAutoFit/>
          </a:bodyPr>
          <a:lstStyle/>
          <a:p>
            <a:pPr algn="ctr"/>
            <a:r>
              <a:rPr sz="1000" b="1" i="0">
                <a:solidFill>
                  <a:srgbClr val="FFFFFF"/>
                </a:solidFill>
              </a:rPr>
              <a:t>Ch.6C</a:t>
            </a:r>
          </a:p>
        </p:txBody>
      </p:sp>
      <p:sp>
        <p:nvSpPr>
          <p:cNvPr id="6" name="TextBox 5"/>
          <p:cNvSpPr txBox="1"/>
          <p:nvPr/>
        </p:nvSpPr>
        <p:spPr>
          <a:xfrm>
            <a:off x="1417320" y="109728"/>
            <a:ext cx="10424160" cy="530352"/>
          </a:xfrm>
          <a:prstGeom prst="rect">
            <a:avLst/>
          </a:prstGeom>
          <a:noFill/>
        </p:spPr>
        <p:txBody>
          <a:bodyPr wrap="square">
            <a:spAutoFit/>
          </a:bodyPr>
          <a:lstStyle/>
          <a:p>
            <a:pPr algn="l"/>
            <a:r>
              <a:rPr sz="1700" b="1" i="0">
                <a:solidFill>
                  <a:srgbClr val="FFFFFF"/>
                </a:solidFill>
              </a:rPr>
              <a:t>रद्द अनुबंध — भैरवजी Bridge, Kotada Road, Gannon Dunkerlay</a:t>
            </a:r>
          </a:p>
        </p:txBody>
      </p:sp>
      <p:sp>
        <p:nvSpPr>
          <p:cNvPr id="7" name="TextBox 6"/>
          <p:cNvSpPr txBox="1"/>
          <p:nvPr/>
        </p:nvSpPr>
        <p:spPr>
          <a:xfrm>
            <a:off x="1417320" y="612648"/>
            <a:ext cx="10424160" cy="402336"/>
          </a:xfrm>
          <a:prstGeom prst="rect">
            <a:avLst/>
          </a:prstGeom>
          <a:noFill/>
        </p:spPr>
        <p:txBody>
          <a:bodyPr wrap="square">
            <a:spAutoFit/>
          </a:bodyPr>
          <a:lstStyle/>
          <a:p>
            <a:pPr algn="l"/>
            <a:r>
              <a:rPr sz="1150" b="1" i="0">
                <a:solidFill>
                  <a:srgbClr val="A0C8DC"/>
                </a:solidFill>
              </a:rPr>
              <a:t>Rescinded Contracts — Bhairavji Bridge, Kotada Road, Gannon Dunkerlay</a:t>
            </a:r>
          </a:p>
        </p:txBody>
      </p:sp>
      <p:sp>
        <p:nvSpPr>
          <p:cNvPr id="8" name="Rectangle 7"/>
          <p:cNvSpPr/>
          <p:nvPr/>
        </p:nvSpPr>
        <p:spPr>
          <a:xfrm>
            <a:off x="274320" y="1133856"/>
            <a:ext cx="11640312" cy="2743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4320" y="1234440"/>
            <a:ext cx="5669280" cy="5120640"/>
          </a:xfrm>
          <a:prstGeom prst="rect">
            <a:avLst/>
          </a:prstGeom>
          <a:noFill/>
        </p:spPr>
        <p:txBody>
          <a:bodyPr wrap="square">
            <a:spAutoFit/>
          </a:bodyPr>
          <a:lstStyle/>
          <a:p>
            <a:pPr algn="l"/>
            <a:r>
              <a:rPr sz="1050" b="0" i="0">
                <a:solidFill>
                  <a:srgbClr val="DAE0E6"/>
                </a:solidFill>
              </a:rPr>
              <a:t>भैरवजी Bridge, Kotada Road, Gannon Dunkerlay — तीनों में वसूली शून्य। ~200
rescissions — कोई systematic monitoring नहीं। Blacklist enforce नहीं।</a:t>
            </a:r>
          </a:p>
        </p:txBody>
      </p:sp>
      <p:sp>
        <p:nvSpPr>
          <p:cNvPr id="10" name="TextBox 9"/>
          <p:cNvSpPr txBox="1"/>
          <p:nvPr/>
        </p:nvSpPr>
        <p:spPr>
          <a:xfrm>
            <a:off x="6217920" y="1234440"/>
            <a:ext cx="5669280" cy="5120640"/>
          </a:xfrm>
          <a:prstGeom prst="rect">
            <a:avLst/>
          </a:prstGeom>
          <a:noFill/>
        </p:spPr>
        <p:txBody>
          <a:bodyPr wrap="square">
            <a:spAutoFit/>
          </a:bodyPr>
          <a:lstStyle/>
          <a:p>
            <a:pPr algn="l"/>
            <a:r>
              <a:rPr sz="1000" b="0" i="1">
                <a:solidFill>
                  <a:srgbClr val="A8B9C3"/>
                </a:solidFill>
              </a:rPr>
              <a:t>Three named cases: Bhairavji Bridge Banswara (rescinded, nil recovery), Kotada
Road Udaipur (rescinded, nil recovery), Gannon Dunkerlay &amp; Co — established
firm, contract rescinded, substantial dues unexercised, company walked free.
~200 rescissions statewide, zero monitoring. Rescission is a paper threat, not
a financial liability.</a:t>
            </a:r>
          </a:p>
        </p:txBody>
      </p:sp>
      <p:sp>
        <p:nvSpPr>
          <p:cNvPr id="11" name="Rectangle 10"/>
          <p:cNvSpPr/>
          <p:nvPr/>
        </p:nvSpPr>
        <p:spPr>
          <a:xfrm>
            <a:off x="6035040" y="1234440"/>
            <a:ext cx="27432" cy="512064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881360" y="6492240"/>
            <a:ext cx="1188720" cy="274320"/>
          </a:xfrm>
          <a:prstGeom prst="rect">
            <a:avLst/>
          </a:prstGeom>
          <a:noFill/>
        </p:spPr>
        <p:txBody>
          <a:bodyPr wrap="square">
            <a:spAutoFit/>
          </a:bodyPr>
          <a:lstStyle/>
          <a:p>
            <a:pPr algn="r"/>
            <a:r>
              <a:rPr sz="800" b="0" i="0">
                <a:solidFill>
                  <a:srgbClr val="647382"/>
                </a:solidFill>
              </a:rPr>
              <a:t>Slide 10 / 13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93992"/>
            <a:ext cx="12188952" cy="6400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74320" y="137160"/>
            <a:ext cx="1005840" cy="402336"/>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137160"/>
            <a:ext cx="1005840" cy="402336"/>
          </a:xfrm>
          <a:prstGeom prst="rect">
            <a:avLst/>
          </a:prstGeom>
          <a:noFill/>
        </p:spPr>
        <p:txBody>
          <a:bodyPr wrap="square">
            <a:spAutoFit/>
          </a:bodyPr>
          <a:lstStyle/>
          <a:p>
            <a:pPr algn="ctr"/>
            <a:r>
              <a:rPr sz="1000" b="1" i="0">
                <a:solidFill>
                  <a:srgbClr val="FFFFFF"/>
                </a:solidFill>
              </a:rPr>
              <a:t>Ch.6D</a:t>
            </a:r>
          </a:p>
        </p:txBody>
      </p:sp>
      <p:sp>
        <p:nvSpPr>
          <p:cNvPr id="6" name="TextBox 5"/>
          <p:cNvSpPr txBox="1"/>
          <p:nvPr/>
        </p:nvSpPr>
        <p:spPr>
          <a:xfrm>
            <a:off x="1417320" y="109728"/>
            <a:ext cx="10424160" cy="530352"/>
          </a:xfrm>
          <a:prstGeom prst="rect">
            <a:avLst/>
          </a:prstGeom>
          <a:noFill/>
        </p:spPr>
        <p:txBody>
          <a:bodyPr wrap="square">
            <a:spAutoFit/>
          </a:bodyPr>
          <a:lstStyle/>
          <a:p>
            <a:pPr algn="l"/>
            <a:r>
              <a:rPr sz="1700" b="1" i="0">
                <a:solidFill>
                  <a:srgbClr val="FFFFFF"/>
                </a:solidFill>
              </a:rPr>
              <a:t>Recovery Portal नहीं, Legal Pursuit नहीं — Impunity का Architecture</a:t>
            </a:r>
          </a:p>
        </p:txBody>
      </p:sp>
      <p:sp>
        <p:nvSpPr>
          <p:cNvPr id="7" name="TextBox 6"/>
          <p:cNvSpPr txBox="1"/>
          <p:nvPr/>
        </p:nvSpPr>
        <p:spPr>
          <a:xfrm>
            <a:off x="1417320" y="612648"/>
            <a:ext cx="10424160" cy="402336"/>
          </a:xfrm>
          <a:prstGeom prst="rect">
            <a:avLst/>
          </a:prstGeom>
          <a:noFill/>
        </p:spPr>
        <p:txBody>
          <a:bodyPr wrap="square">
            <a:spAutoFit/>
          </a:bodyPr>
          <a:lstStyle/>
          <a:p>
            <a:pPr algn="l"/>
            <a:r>
              <a:rPr sz="1150" b="1" i="0">
                <a:solidFill>
                  <a:srgbClr val="A0C8DC"/>
                </a:solidFill>
              </a:rPr>
              <a:t>Why No Recovery Portal? Why No Legal Pursuit? — Architecture of Impunity</a:t>
            </a:r>
          </a:p>
        </p:txBody>
      </p:sp>
      <p:sp>
        <p:nvSpPr>
          <p:cNvPr id="8" name="Rectangle 7"/>
          <p:cNvSpPr/>
          <p:nvPr/>
        </p:nvSpPr>
        <p:spPr>
          <a:xfrm>
            <a:off x="274320" y="1133856"/>
            <a:ext cx="11640312" cy="2743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4320" y="1234440"/>
            <a:ext cx="5669280" cy="5120640"/>
          </a:xfrm>
          <a:prstGeom prst="rect">
            <a:avLst/>
          </a:prstGeom>
          <a:noFill/>
        </p:spPr>
        <p:txBody>
          <a:bodyPr wrap="square">
            <a:spAutoFit/>
          </a:bodyPr>
          <a:lstStyle/>
          <a:p>
            <a:pPr algn="l"/>
            <a:r>
              <a:rPr sz="1050" b="0" i="0">
                <a:solidFill>
                  <a:srgbClr val="DAE0E6"/>
                </a:solidFill>
              </a:rPr>
              <a:t>Recovery Portal 15 वर्षों में नहीं — visibility = accountability से बचाव।
Legal pursuit नहीं — Negligence या Complicity। Limitation expire हो रहे हैं।
Framework: Portal 90 days, Notice 30 days, Register, Alerts, ACB referral।</a:t>
            </a:r>
          </a:p>
        </p:txBody>
      </p:sp>
      <p:sp>
        <p:nvSpPr>
          <p:cNvPr id="10" name="TextBox 9"/>
          <p:cNvSpPr txBox="1"/>
          <p:nvPr/>
        </p:nvSpPr>
        <p:spPr>
          <a:xfrm>
            <a:off x="6217920" y="1234440"/>
            <a:ext cx="5669280" cy="5120640"/>
          </a:xfrm>
          <a:prstGeom prst="rect">
            <a:avLst/>
          </a:prstGeom>
          <a:noFill/>
        </p:spPr>
        <p:txBody>
          <a:bodyPr wrap="square">
            <a:spAutoFit/>
          </a:bodyPr>
          <a:lstStyle/>
          <a:p>
            <a:pPr algn="l"/>
            <a:r>
              <a:rPr sz="1000" b="0" i="1">
                <a:solidFill>
                  <a:srgbClr val="A8B9C3"/>
                </a:solidFill>
              </a:rPr>
              <a:t>Q1: Recovery Portal not built in 15 years — because it would make every non-
recovery visible and attributable to a named officer. Q2: No legal pursuit
because of either Gross Negligence or Complicity — the same officer who
processed payments is the officer who refuses to collect. Limitation periods
expiring unnoticed. Five-point framework: Portal in 90 days; legal notice in
30 days; litigation register; limitation alerts; same-officer overlap = ACB
referral.</a:t>
            </a:r>
          </a:p>
        </p:txBody>
      </p:sp>
      <p:sp>
        <p:nvSpPr>
          <p:cNvPr id="11" name="Rectangle 10"/>
          <p:cNvSpPr/>
          <p:nvPr/>
        </p:nvSpPr>
        <p:spPr>
          <a:xfrm>
            <a:off x="6035040" y="1234440"/>
            <a:ext cx="27432" cy="512064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881360" y="6492240"/>
            <a:ext cx="1188720" cy="274320"/>
          </a:xfrm>
          <a:prstGeom prst="rect">
            <a:avLst/>
          </a:prstGeom>
          <a:noFill/>
        </p:spPr>
        <p:txBody>
          <a:bodyPr wrap="square">
            <a:spAutoFit/>
          </a:bodyPr>
          <a:lstStyle/>
          <a:p>
            <a:pPr algn="r"/>
            <a:r>
              <a:rPr sz="800" b="0" i="0">
                <a:solidFill>
                  <a:srgbClr val="647382"/>
                </a:solidFill>
              </a:rPr>
              <a:t>Slide 11 / 13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22442"/>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93992"/>
            <a:ext cx="12188952" cy="6400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74320" y="137160"/>
            <a:ext cx="1005840" cy="402336"/>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137160"/>
            <a:ext cx="1005840" cy="402336"/>
          </a:xfrm>
          <a:prstGeom prst="rect">
            <a:avLst/>
          </a:prstGeom>
          <a:noFill/>
        </p:spPr>
        <p:txBody>
          <a:bodyPr wrap="square">
            <a:spAutoFit/>
          </a:bodyPr>
          <a:lstStyle/>
          <a:p>
            <a:pPr algn="ctr"/>
            <a:r>
              <a:rPr sz="1000" b="1" i="0">
                <a:solidFill>
                  <a:srgbClr val="FFFFFF"/>
                </a:solidFill>
              </a:rPr>
              <a:t>Ch.7</a:t>
            </a:r>
          </a:p>
        </p:txBody>
      </p:sp>
      <p:sp>
        <p:nvSpPr>
          <p:cNvPr id="6" name="TextBox 5"/>
          <p:cNvSpPr txBox="1"/>
          <p:nvPr/>
        </p:nvSpPr>
        <p:spPr>
          <a:xfrm>
            <a:off x="1417320" y="109728"/>
            <a:ext cx="10424160" cy="530352"/>
          </a:xfrm>
          <a:prstGeom prst="rect">
            <a:avLst/>
          </a:prstGeom>
          <a:noFill/>
        </p:spPr>
        <p:txBody>
          <a:bodyPr wrap="square">
            <a:spAutoFit/>
          </a:bodyPr>
          <a:lstStyle/>
          <a:p>
            <a:pPr algn="l"/>
            <a:r>
              <a:rPr sz="1700" b="1" i="0">
                <a:solidFill>
                  <a:srgbClr val="FFFFFF"/>
                </a:solidFill>
              </a:rPr>
              <a:t>सात Minimum Corrective Actions — तत्काल</a:t>
            </a:r>
          </a:p>
        </p:txBody>
      </p:sp>
      <p:sp>
        <p:nvSpPr>
          <p:cNvPr id="7" name="TextBox 6"/>
          <p:cNvSpPr txBox="1"/>
          <p:nvPr/>
        </p:nvSpPr>
        <p:spPr>
          <a:xfrm>
            <a:off x="1417320" y="612648"/>
            <a:ext cx="10424160" cy="402336"/>
          </a:xfrm>
          <a:prstGeom prst="rect">
            <a:avLst/>
          </a:prstGeom>
          <a:noFill/>
        </p:spPr>
        <p:txBody>
          <a:bodyPr wrap="square">
            <a:spAutoFit/>
          </a:bodyPr>
          <a:lstStyle/>
          <a:p>
            <a:pPr algn="l"/>
            <a:r>
              <a:rPr sz="1150" b="1" i="0">
                <a:solidFill>
                  <a:srgbClr val="A0C8DC"/>
                </a:solidFill>
              </a:rPr>
              <a:t>Seven Minimum Corrective Actions — Immediate</a:t>
            </a:r>
          </a:p>
        </p:txBody>
      </p:sp>
      <p:sp>
        <p:nvSpPr>
          <p:cNvPr id="8" name="Rectangle 7"/>
          <p:cNvSpPr/>
          <p:nvPr/>
        </p:nvSpPr>
        <p:spPr>
          <a:xfrm>
            <a:off x="274320" y="1133856"/>
            <a:ext cx="11640312" cy="2743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4320" y="1234440"/>
            <a:ext cx="5669280" cy="5120640"/>
          </a:xfrm>
          <a:prstGeom prst="rect">
            <a:avLst/>
          </a:prstGeom>
          <a:noFill/>
        </p:spPr>
        <p:txBody>
          <a:bodyPr wrap="square">
            <a:spAutoFit/>
          </a:bodyPr>
          <a:lstStyle/>
          <a:p>
            <a:pPr algn="l"/>
            <a:r>
              <a:rPr sz="1050" b="0" i="0">
                <a:solidFill>
                  <a:srgbClr val="DAE0E6"/>
                </a:solidFill>
              </a:rPr>
              <a:t>1.Original bill upload। 2.Physical MB PDF। 3.QC abstract। 4.Bitumen CRC
copies। 5.Consumption Statement cross-link। 6.Centralised CRC Registry।
7.Documents absent = payment withheld।</a:t>
            </a:r>
          </a:p>
        </p:txBody>
      </p:sp>
      <p:sp>
        <p:nvSpPr>
          <p:cNvPr id="10" name="TextBox 9"/>
          <p:cNvSpPr txBox="1"/>
          <p:nvPr/>
        </p:nvSpPr>
        <p:spPr>
          <a:xfrm>
            <a:off x="6217920" y="1234440"/>
            <a:ext cx="5669280" cy="5120640"/>
          </a:xfrm>
          <a:prstGeom prst="rect">
            <a:avLst/>
          </a:prstGeom>
          <a:noFill/>
        </p:spPr>
        <p:txBody>
          <a:bodyPr wrap="square">
            <a:spAutoFit/>
          </a:bodyPr>
          <a:lstStyle/>
          <a:p>
            <a:pPr algn="l"/>
            <a:r>
              <a:rPr sz="1000" b="0" i="1">
                <a:solidFill>
                  <a:srgbClr val="A8B9C3"/>
                </a:solidFill>
              </a:rPr>
              <a:t>1.Mandate upload of contractor's original bill. 2.Upload complete physical MB
PDF. 3.Upload QC test abstract. 4.Upload Bitumen CRC copies. 5.Cross-link
Consumption Statement with CRC — mismatch auto-flags. 6.Centralised CRC
Registry — one CRC, one bill only. 7.Missing documents = payment withheld +
scrutiny initiated.</a:t>
            </a:r>
          </a:p>
        </p:txBody>
      </p:sp>
      <p:sp>
        <p:nvSpPr>
          <p:cNvPr id="11" name="Rectangle 10"/>
          <p:cNvSpPr/>
          <p:nvPr/>
        </p:nvSpPr>
        <p:spPr>
          <a:xfrm>
            <a:off x="6035040" y="1234440"/>
            <a:ext cx="27432" cy="512064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881360" y="6492240"/>
            <a:ext cx="1188720" cy="274320"/>
          </a:xfrm>
          <a:prstGeom prst="rect">
            <a:avLst/>
          </a:prstGeom>
          <a:noFill/>
        </p:spPr>
        <p:txBody>
          <a:bodyPr wrap="square">
            <a:spAutoFit/>
          </a:bodyPr>
          <a:lstStyle/>
          <a:p>
            <a:pPr algn="r"/>
            <a:r>
              <a:rPr sz="800" b="0" i="0">
                <a:solidFill>
                  <a:srgbClr val="647382"/>
                </a:solidFill>
              </a:rPr>
              <a:t>Slide 12 / 13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A2E5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93992"/>
            <a:ext cx="12188952" cy="6400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74320" y="137160"/>
            <a:ext cx="1005840" cy="402336"/>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137160"/>
            <a:ext cx="1005840" cy="402336"/>
          </a:xfrm>
          <a:prstGeom prst="rect">
            <a:avLst/>
          </a:prstGeom>
          <a:noFill/>
        </p:spPr>
        <p:txBody>
          <a:bodyPr wrap="square">
            <a:spAutoFit/>
          </a:bodyPr>
          <a:lstStyle/>
          <a:p>
            <a:pPr algn="ctr"/>
            <a:r>
              <a:rPr sz="1000" b="1" i="0">
                <a:solidFill>
                  <a:srgbClr val="FFFFFF"/>
                </a:solidFill>
              </a:rPr>
              <a:t>Ch.8</a:t>
            </a:r>
          </a:p>
        </p:txBody>
      </p:sp>
      <p:sp>
        <p:nvSpPr>
          <p:cNvPr id="6" name="TextBox 5"/>
          <p:cNvSpPr txBox="1"/>
          <p:nvPr/>
        </p:nvSpPr>
        <p:spPr>
          <a:xfrm>
            <a:off x="1417320" y="109728"/>
            <a:ext cx="10424160" cy="530352"/>
          </a:xfrm>
          <a:prstGeom prst="rect">
            <a:avLst/>
          </a:prstGeom>
          <a:noFill/>
        </p:spPr>
        <p:txBody>
          <a:bodyPr wrap="square">
            <a:spAutoFit/>
          </a:bodyPr>
          <a:lstStyle/>
          <a:p>
            <a:pPr algn="l"/>
            <a:r>
              <a:rPr sz="1700" b="1" i="0">
                <a:solidFill>
                  <a:srgbClr val="FFFFFF"/>
                </a:solidFill>
              </a:rPr>
              <a:t>तेरह मीडिया और जन माँगें</a:t>
            </a:r>
          </a:p>
        </p:txBody>
      </p:sp>
      <p:sp>
        <p:nvSpPr>
          <p:cNvPr id="7" name="TextBox 6"/>
          <p:cNvSpPr txBox="1"/>
          <p:nvPr/>
        </p:nvSpPr>
        <p:spPr>
          <a:xfrm>
            <a:off x="1417320" y="612648"/>
            <a:ext cx="10424160" cy="402336"/>
          </a:xfrm>
          <a:prstGeom prst="rect">
            <a:avLst/>
          </a:prstGeom>
          <a:noFill/>
        </p:spPr>
        <p:txBody>
          <a:bodyPr wrap="square">
            <a:spAutoFit/>
          </a:bodyPr>
          <a:lstStyle/>
          <a:p>
            <a:pPr algn="l"/>
            <a:r>
              <a:rPr sz="1150" b="1" i="0">
                <a:solidFill>
                  <a:srgbClr val="A0C8DC"/>
                </a:solidFill>
              </a:rPr>
              <a:t>Thirteen Media &amp; Public Demands</a:t>
            </a:r>
          </a:p>
        </p:txBody>
      </p:sp>
      <p:sp>
        <p:nvSpPr>
          <p:cNvPr id="8" name="Rectangle 7"/>
          <p:cNvSpPr/>
          <p:nvPr/>
        </p:nvSpPr>
        <p:spPr>
          <a:xfrm>
            <a:off x="274320" y="1133856"/>
            <a:ext cx="11640312" cy="2743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4320" y="1234440"/>
            <a:ext cx="5669280" cy="5120640"/>
          </a:xfrm>
          <a:prstGeom prst="rect">
            <a:avLst/>
          </a:prstGeom>
          <a:noFill/>
        </p:spPr>
        <p:txBody>
          <a:bodyPr wrap="square">
            <a:spAutoFit/>
          </a:bodyPr>
          <a:lstStyle/>
          <a:p>
            <a:pPr algn="l"/>
            <a:r>
              <a:rPr sz="1050" b="0" i="0">
                <a:solidFill>
                  <a:srgbClr val="DAE0E6"/>
                </a:solidFill>
              </a:rPr>
              <a:t>1.RTI CRC upload। 2.CAG bitumen audit। 3.CRC sting। 4.Core cutting test।
5.Department circular। 6.Supplier public list। 7.Public portal। 8.CRC
duplication ACB। 9.Dormant deposits RTI। 10.e-EMD expose। 11.Ledger sting।
12.Recovery RTI। 13.Blacklist register।</a:t>
            </a:r>
          </a:p>
        </p:txBody>
      </p:sp>
      <p:sp>
        <p:nvSpPr>
          <p:cNvPr id="10" name="TextBox 9"/>
          <p:cNvSpPr txBox="1"/>
          <p:nvPr/>
        </p:nvSpPr>
        <p:spPr>
          <a:xfrm>
            <a:off x="6217920" y="1234440"/>
            <a:ext cx="5669280" cy="5120640"/>
          </a:xfrm>
          <a:prstGeom prst="rect">
            <a:avLst/>
          </a:prstGeom>
          <a:noFill/>
        </p:spPr>
        <p:txBody>
          <a:bodyPr wrap="square">
            <a:spAutoFit/>
          </a:bodyPr>
          <a:lstStyle/>
          <a:p>
            <a:pPr algn="l"/>
            <a:r>
              <a:rPr sz="1000" b="0" i="1">
                <a:solidFill>
                  <a:srgbClr val="A8B9C3"/>
                </a:solidFill>
              </a:rPr>
              <a:t>1.RTI on CRC upload status. 2.CAG audit bitumen claimed vs received. 3.CRC
verification sting. 4.Core cutting test on recent roads. 5.Department circular
mandating uploads. 6.Public bitumen supplier list. 7.Public bill tracking
portal. 8.CRC duplication ACB audit. 9.RTI on dormant EMD/SD deposits.
10.e-EMD Refund expose. 11.Contractor Ledger sting. 12.Rescinded contracts
recovery RTI. 13.Blacklisting register demand.</a:t>
            </a:r>
          </a:p>
        </p:txBody>
      </p:sp>
      <p:sp>
        <p:nvSpPr>
          <p:cNvPr id="11" name="Rectangle 10"/>
          <p:cNvSpPr/>
          <p:nvPr/>
        </p:nvSpPr>
        <p:spPr>
          <a:xfrm>
            <a:off x="6035040" y="1234440"/>
            <a:ext cx="27432" cy="512064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881360" y="6492240"/>
            <a:ext cx="1188720" cy="274320"/>
          </a:xfrm>
          <a:prstGeom prst="rect">
            <a:avLst/>
          </a:prstGeom>
          <a:noFill/>
        </p:spPr>
        <p:txBody>
          <a:bodyPr wrap="square">
            <a:spAutoFit/>
          </a:bodyPr>
          <a:lstStyle/>
          <a:p>
            <a:pPr algn="r"/>
            <a:r>
              <a:rPr sz="800" b="0" i="0">
                <a:solidFill>
                  <a:srgbClr val="647382"/>
                </a:solidFill>
              </a:rPr>
              <a:t>Slide 13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7F1D1D"/>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FFA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93992"/>
            <a:ext cx="12188952" cy="64008"/>
          </a:xfrm>
          <a:prstGeom prst="rect">
            <a:avLst/>
          </a:prstGeom>
          <a:solidFill>
            <a:srgbClr val="FFA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4552" cy="685800"/>
          </a:xfrm>
          <a:prstGeom prst="rect">
            <a:avLst/>
          </a:prstGeom>
          <a:noFill/>
        </p:spPr>
        <p:txBody>
          <a:bodyPr wrap="square">
            <a:spAutoFit/>
          </a:bodyPr>
          <a:lstStyle/>
          <a:p>
            <a:pPr algn="ctr"/>
            <a:r>
              <a:rPr sz="2100" b="1" i="0">
                <a:solidFill>
                  <a:srgbClr val="FFFFFF"/>
                </a:solidFill>
              </a:rPr>
              <a:t>🚨  ACT NOW  —  अभी कार्रवाई करें  🚨</a:t>
            </a:r>
          </a:p>
        </p:txBody>
      </p:sp>
      <p:sp>
        <p:nvSpPr>
          <p:cNvPr id="5" name="TextBox 4"/>
          <p:cNvSpPr txBox="1"/>
          <p:nvPr/>
        </p:nvSpPr>
        <p:spPr>
          <a:xfrm>
            <a:off x="457200" y="1234440"/>
            <a:ext cx="11274552" cy="822960"/>
          </a:xfrm>
          <a:prstGeom prst="rect">
            <a:avLst/>
          </a:prstGeom>
          <a:noFill/>
        </p:spPr>
        <p:txBody>
          <a:bodyPr wrap="square">
            <a:spAutoFit/>
          </a:bodyPr>
          <a:lstStyle/>
          <a:p>
            <a:pPr algn="ctr"/>
            <a:r>
              <a:rPr sz="1300" b="0" i="0">
                <a:solidFill>
                  <a:srgbClr val="FFC8C8"/>
                </a:solidFill>
              </a:rPr>
              <a:t>RTI FILE करें  •  CAG Audit माँगें  •  ACB को सूचित करें  •  Recovery Portal माँगें
File RTI  •  Demand CAG Audit  •  Alert ACB  •  Demand Recovery Portal</a:t>
            </a:r>
          </a:p>
        </p:txBody>
      </p:sp>
      <p:sp>
        <p:nvSpPr>
          <p:cNvPr id="6" name="TextBox 5"/>
          <p:cNvSpPr txBox="1"/>
          <p:nvPr/>
        </p:nvSpPr>
        <p:spPr>
          <a:xfrm>
            <a:off x="914400" y="2377440"/>
            <a:ext cx="10360152" cy="3200400"/>
          </a:xfrm>
          <a:prstGeom prst="rect">
            <a:avLst/>
          </a:prstGeom>
          <a:noFill/>
        </p:spPr>
        <p:txBody>
          <a:bodyPr wrap="square">
            <a:spAutoFit/>
          </a:bodyPr>
          <a:lstStyle/>
          <a:p>
            <a:pPr algn="ctr"/>
            <a:r>
              <a:rPr sz="1500" b="0" i="1">
                <a:solidFill>
                  <a:srgbClr val="FFFFFF"/>
                </a:solidFill>
              </a:rPr>
              <a:t>"जब तक system की monitoring नहीं होगी —
जनता का पैसा डूबता रहेगा।
"Recovery Portal बनाना 90 दिन का काम था।
15 वर्ष में नहीं बना — यह negligence नहीं,
यह impunity का architecture है।"</a:t>
            </a:r>
          </a:p>
        </p:txBody>
      </p:sp>
      <p:sp>
        <p:nvSpPr>
          <p:cNvPr id="7" name="TextBox 6"/>
          <p:cNvSpPr txBox="1"/>
          <p:nvPr/>
        </p:nvSpPr>
        <p:spPr>
          <a:xfrm>
            <a:off x="457200" y="6217920"/>
            <a:ext cx="11274552" cy="411480"/>
          </a:xfrm>
          <a:prstGeom prst="rect">
            <a:avLst/>
          </a:prstGeom>
          <a:noFill/>
        </p:spPr>
        <p:txBody>
          <a:bodyPr wrap="square">
            <a:spAutoFit/>
          </a:bodyPr>
          <a:lstStyle/>
          <a:p>
            <a:pPr algn="ctr"/>
            <a:r>
              <a:rPr sz="900" b="0" i="0">
                <a:solidFill>
                  <a:srgbClr val="C89696"/>
                </a:solidFill>
              </a:rPr>
              <a:t>जन संवाददाता  |  6 August 2026  |  Public Interest Investigation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