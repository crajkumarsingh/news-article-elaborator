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11430000" cy="548640"/>
          </a:xfrm>
          <a:prstGeom prst="rect">
            <a:avLst/>
          </a:prstGeom>
          <a:noFill/>
        </p:spPr>
        <p:txBody>
          <a:bodyPr wrap="square">
            <a:spAutoFit/>
          </a:bodyPr>
          <a:lstStyle/>
          <a:p>
            <a:pPr algn="ctr"/>
            <a:r>
              <a:rPr sz="1400" b="1" i="0">
                <a:solidFill>
                  <a:srgbClr val="0D9488"/>
                </a:solidFill>
              </a:rPr>
              <a:t>जन संवाददाता  |  JAN SAMVADDAATA</a:t>
            </a:r>
          </a:p>
        </p:txBody>
      </p:sp>
      <p:sp>
        <p:nvSpPr>
          <p:cNvPr id="5" name="TextBox 4"/>
          <p:cNvSpPr txBox="1"/>
          <p:nvPr/>
        </p:nvSpPr>
        <p:spPr>
          <a:xfrm>
            <a:off x="365760" y="822960"/>
            <a:ext cx="11430000" cy="365760"/>
          </a:xfrm>
          <a:prstGeom prst="rect">
            <a:avLst/>
          </a:prstGeom>
          <a:noFill/>
        </p:spPr>
        <p:txBody>
          <a:bodyPr wrap="square">
            <a:spAutoFit/>
          </a:bodyPr>
          <a:lstStyle/>
          <a:p>
            <a:pPr algn="ctr"/>
            <a:r>
              <a:rPr sz="1000" b="0" i="0">
                <a:solidFill>
                  <a:srgbClr val="B4BEC8"/>
                </a:solidFill>
              </a:rPr>
              <a:t>खोजी पत्रकारिता  |  INVESTIGATIVE JOURNALISM</a:t>
            </a:r>
          </a:p>
        </p:txBody>
      </p:sp>
      <p:sp>
        <p:nvSpPr>
          <p:cNvPr id="6" name="Rectangle 5"/>
          <p:cNvSpPr/>
          <p:nvPr/>
        </p:nvSpPr>
        <p:spPr>
          <a:xfrm>
            <a:off x="1371600" y="1280160"/>
            <a:ext cx="944575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11064240" cy="1097280"/>
          </a:xfrm>
          <a:prstGeom prst="rect">
            <a:avLst/>
          </a:prstGeom>
          <a:noFill/>
        </p:spPr>
        <p:txBody>
          <a:bodyPr wrap="square">
            <a:spAutoFit/>
          </a:bodyPr>
          <a:lstStyle/>
          <a:p>
            <a:pPr algn="ctr"/>
            <a:r>
              <a:rPr sz="3200" b="1" i="0">
                <a:solidFill>
                  <a:srgbClr val="FFFFFF"/>
                </a:solidFill>
              </a:rPr>
              <a:t>राजस्थान का डिजिटल भुगतान संकट</a:t>
            </a:r>
          </a:p>
        </p:txBody>
      </p:sp>
      <p:sp>
        <p:nvSpPr>
          <p:cNvPr id="8" name="TextBox 7"/>
          <p:cNvSpPr txBox="1"/>
          <p:nvPr/>
        </p:nvSpPr>
        <p:spPr>
          <a:xfrm>
            <a:off x="548640" y="2651760"/>
            <a:ext cx="11064240" cy="731520"/>
          </a:xfrm>
          <a:prstGeom prst="rect">
            <a:avLst/>
          </a:prstGeom>
          <a:noFill/>
        </p:spPr>
        <p:txBody>
          <a:bodyPr wrap="square">
            <a:spAutoFit/>
          </a:bodyPr>
          <a:lstStyle/>
          <a:p>
            <a:pPr algn="ctr"/>
            <a:r>
              <a:rPr sz="1800" b="1" i="0">
                <a:solidFill>
                  <a:srgbClr val="A0C8DC"/>
                </a:solidFill>
              </a:rPr>
              <a:t>Rajasthan's Digital Payment Crisis: The IFMS 3.0 Expose</a:t>
            </a:r>
          </a:p>
        </p:txBody>
      </p:sp>
      <p:sp>
        <p:nvSpPr>
          <p:cNvPr id="9" name="TextBox 8"/>
          <p:cNvSpPr txBox="1"/>
          <p:nvPr/>
        </p:nvSpPr>
        <p:spPr>
          <a:xfrm>
            <a:off x="548640" y="3520440"/>
            <a:ext cx="11064240" cy="548640"/>
          </a:xfrm>
          <a:prstGeom prst="rect">
            <a:avLst/>
          </a:prstGeom>
          <a:noFill/>
        </p:spPr>
        <p:txBody>
          <a:bodyPr wrap="square">
            <a:spAutoFit/>
          </a:bodyPr>
          <a:lstStyle/>
          <a:p>
            <a:pPr algn="ctr"/>
            <a:r>
              <a:rPr sz="1100" b="0" i="1">
                <a:solidFill>
                  <a:srgbClr val="B4BEB4"/>
                </a:solidFill>
              </a:rPr>
              <a:t>WAM बंद, IFMS टूटा, Helpline मौन, Delegation गायब — एक सम्पूर्ण खोजी रिपोर्ट</a:t>
            </a:r>
          </a:p>
        </p:txBody>
      </p:sp>
      <p:sp>
        <p:nvSpPr>
          <p:cNvPr id="10" name="TextBox 9"/>
          <p:cNvSpPr txBox="1"/>
          <p:nvPr/>
        </p:nvSpPr>
        <p:spPr>
          <a:xfrm>
            <a:off x="548640" y="4069080"/>
            <a:ext cx="11064240" cy="548640"/>
          </a:xfrm>
          <a:prstGeom prst="rect">
            <a:avLst/>
          </a:prstGeom>
          <a:noFill/>
        </p:spPr>
        <p:txBody>
          <a:bodyPr wrap="square">
            <a:spAutoFit/>
          </a:bodyPr>
          <a:lstStyle/>
          <a:p>
            <a:pPr algn="ctr"/>
            <a:r>
              <a:rPr sz="1000" b="0" i="1">
                <a:solidFill>
                  <a:srgbClr val="A0AFA5"/>
                </a:solidFill>
              </a:rPr>
              <a:t>WAM shutdown, IFMS broken, Helpline silent, No delegation — a complete investigative report</a:t>
            </a:r>
          </a:p>
        </p:txBody>
      </p:sp>
      <p:sp>
        <p:nvSpPr>
          <p:cNvPr id="11" name="Rectangle 10"/>
          <p:cNvSpPr/>
          <p:nvPr/>
        </p:nvSpPr>
        <p:spPr>
          <a:xfrm>
            <a:off x="1371600" y="4709160"/>
            <a:ext cx="9445752"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846320"/>
            <a:ext cx="11430000" cy="365760"/>
          </a:xfrm>
          <a:prstGeom prst="rect">
            <a:avLst/>
          </a:prstGeom>
          <a:noFill/>
        </p:spPr>
        <p:txBody>
          <a:bodyPr wrap="square">
            <a:spAutoFit/>
          </a:bodyPr>
          <a:lstStyle/>
          <a:p>
            <a:pPr algn="ctr"/>
            <a:r>
              <a:rPr sz="900" b="0" i="0">
                <a:solidFill>
                  <a:srgbClr val="788C96"/>
                </a:solidFill>
              </a:rPr>
              <a:t>जन संवाददाता | Jan Samvaddaata  •  6 August 2026  •  PWD &amp; Irrigation Bureau, Rajasthan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430000" cy="457200"/>
          </a:xfrm>
          <a:prstGeom prst="rect">
            <a:avLst/>
          </a:prstGeom>
          <a:noFill/>
        </p:spPr>
        <p:txBody>
          <a:bodyPr wrap="square">
            <a:spAutoFit/>
          </a:bodyPr>
          <a:lstStyle/>
          <a:p>
            <a:pPr algn="ctr"/>
            <a:r>
              <a:rPr sz="1400" b="1" i="0">
                <a:solidFill>
                  <a:srgbClr val="0D9488"/>
                </a:solidFill>
              </a:rPr>
              <a:t>AT A GLANCE  —  मुख्य तथ्य  |  KEY FACTS</a:t>
            </a:r>
          </a:p>
        </p:txBody>
      </p:sp>
      <p:sp>
        <p:nvSpPr>
          <p:cNvPr id="4" name="Rectangle 3"/>
          <p:cNvSpPr/>
          <p:nvPr/>
        </p:nvSpPr>
        <p:spPr>
          <a:xfrm>
            <a:off x="274320" y="777240"/>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868680"/>
            <a:ext cx="2560320" cy="640080"/>
          </a:xfrm>
          <a:prstGeom prst="rect">
            <a:avLst/>
          </a:prstGeom>
          <a:noFill/>
        </p:spPr>
        <p:txBody>
          <a:bodyPr wrap="square">
            <a:spAutoFit/>
          </a:bodyPr>
          <a:lstStyle/>
          <a:p>
            <a:pPr algn="ctr"/>
            <a:r>
              <a:rPr sz="2200" b="1" i="0">
                <a:solidFill>
                  <a:srgbClr val="FFFFFF"/>
                </a:solidFill>
              </a:rPr>
              <a:t>~200</a:t>
            </a:r>
          </a:p>
        </p:txBody>
      </p:sp>
      <p:sp>
        <p:nvSpPr>
          <p:cNvPr id="6" name="TextBox 5"/>
          <p:cNvSpPr txBox="1"/>
          <p:nvPr/>
        </p:nvSpPr>
        <p:spPr>
          <a:xfrm>
            <a:off x="365760" y="1463040"/>
            <a:ext cx="2560320" cy="502920"/>
          </a:xfrm>
          <a:prstGeom prst="rect">
            <a:avLst/>
          </a:prstGeom>
          <a:noFill/>
        </p:spPr>
        <p:txBody>
          <a:bodyPr wrap="square">
            <a:spAutoFit/>
          </a:bodyPr>
          <a:lstStyle/>
          <a:p>
            <a:pPr algn="ctr"/>
            <a:r>
              <a:rPr sz="850" b="0" i="0">
                <a:solidFill>
                  <a:srgbClr val="B4C3D2"/>
                </a:solidFill>
              </a:rPr>
              <a:t>PWD Divisions affected</a:t>
            </a:r>
          </a:p>
        </p:txBody>
      </p:sp>
      <p:sp>
        <p:nvSpPr>
          <p:cNvPr id="7" name="Rectangle 6"/>
          <p:cNvSpPr/>
          <p:nvPr/>
        </p:nvSpPr>
        <p:spPr>
          <a:xfrm>
            <a:off x="3136391" y="777240"/>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27832" y="868680"/>
            <a:ext cx="2560320" cy="640080"/>
          </a:xfrm>
          <a:prstGeom prst="rect">
            <a:avLst/>
          </a:prstGeom>
          <a:noFill/>
        </p:spPr>
        <p:txBody>
          <a:bodyPr wrap="square">
            <a:spAutoFit/>
          </a:bodyPr>
          <a:lstStyle/>
          <a:p>
            <a:pPr algn="ctr"/>
            <a:r>
              <a:rPr sz="2200" b="1" i="0">
                <a:solidFill>
                  <a:srgbClr val="FFFFFF"/>
                </a:solidFill>
              </a:rPr>
              <a:t>₹20L+</a:t>
            </a:r>
          </a:p>
        </p:txBody>
      </p:sp>
      <p:sp>
        <p:nvSpPr>
          <p:cNvPr id="9" name="TextBox 8"/>
          <p:cNvSpPr txBox="1"/>
          <p:nvPr/>
        </p:nvSpPr>
        <p:spPr>
          <a:xfrm>
            <a:off x="3227832" y="1463040"/>
            <a:ext cx="2560320" cy="502920"/>
          </a:xfrm>
          <a:prstGeom prst="rect">
            <a:avLst/>
          </a:prstGeom>
          <a:noFill/>
        </p:spPr>
        <p:txBody>
          <a:bodyPr wrap="square">
            <a:spAutoFit/>
          </a:bodyPr>
          <a:lstStyle/>
          <a:p>
            <a:pPr algn="ctr"/>
            <a:r>
              <a:rPr sz="850" b="0" i="0">
                <a:solidFill>
                  <a:srgbClr val="B4C3D2"/>
                </a:solidFill>
              </a:rPr>
              <a:t>Outsourcing cost/Division/year</a:t>
            </a:r>
          </a:p>
        </p:txBody>
      </p:sp>
      <p:sp>
        <p:nvSpPr>
          <p:cNvPr id="10" name="Rectangle 9"/>
          <p:cNvSpPr/>
          <p:nvPr/>
        </p:nvSpPr>
        <p:spPr>
          <a:xfrm>
            <a:off x="5998464" y="777240"/>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9903" y="868680"/>
            <a:ext cx="2560320" cy="640080"/>
          </a:xfrm>
          <a:prstGeom prst="rect">
            <a:avLst/>
          </a:prstGeom>
          <a:noFill/>
        </p:spPr>
        <p:txBody>
          <a:bodyPr wrap="square">
            <a:spAutoFit/>
          </a:bodyPr>
          <a:lstStyle/>
          <a:p>
            <a:pPr algn="ctr"/>
            <a:r>
              <a:rPr sz="2200" b="1" i="0">
                <a:solidFill>
                  <a:srgbClr val="FFFFFF"/>
                </a:solidFill>
              </a:rPr>
              <a:t>₹40 Cr+</a:t>
            </a:r>
          </a:p>
        </p:txBody>
      </p:sp>
      <p:sp>
        <p:nvSpPr>
          <p:cNvPr id="12" name="TextBox 11"/>
          <p:cNvSpPr txBox="1"/>
          <p:nvPr/>
        </p:nvSpPr>
        <p:spPr>
          <a:xfrm>
            <a:off x="6089903" y="1463040"/>
            <a:ext cx="2560320" cy="502920"/>
          </a:xfrm>
          <a:prstGeom prst="rect">
            <a:avLst/>
          </a:prstGeom>
          <a:noFill/>
        </p:spPr>
        <p:txBody>
          <a:bodyPr wrap="square">
            <a:spAutoFit/>
          </a:bodyPr>
          <a:lstStyle/>
          <a:p>
            <a:pPr algn="ctr"/>
            <a:r>
              <a:rPr sz="850" b="0" i="0">
                <a:solidFill>
                  <a:srgbClr val="B4C3D2"/>
                </a:solidFill>
              </a:rPr>
              <a:t>Annual state-level loss</a:t>
            </a:r>
          </a:p>
        </p:txBody>
      </p:sp>
      <p:sp>
        <p:nvSpPr>
          <p:cNvPr id="13" name="Rectangle 12"/>
          <p:cNvSpPr/>
          <p:nvPr/>
        </p:nvSpPr>
        <p:spPr>
          <a:xfrm>
            <a:off x="8860536" y="777240"/>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51976" y="868680"/>
            <a:ext cx="2560320" cy="640080"/>
          </a:xfrm>
          <a:prstGeom prst="rect">
            <a:avLst/>
          </a:prstGeom>
          <a:noFill/>
        </p:spPr>
        <p:txBody>
          <a:bodyPr wrap="square">
            <a:spAutoFit/>
          </a:bodyPr>
          <a:lstStyle/>
          <a:p>
            <a:pPr algn="ctr"/>
            <a:r>
              <a:rPr sz="2200" b="1" i="0">
                <a:solidFill>
                  <a:srgbClr val="FFFFFF"/>
                </a:solidFill>
              </a:rPr>
              <a:t>14 Years</a:t>
            </a:r>
          </a:p>
        </p:txBody>
      </p:sp>
      <p:sp>
        <p:nvSpPr>
          <p:cNvPr id="15" name="TextBox 14"/>
          <p:cNvSpPr txBox="1"/>
          <p:nvPr/>
        </p:nvSpPr>
        <p:spPr>
          <a:xfrm>
            <a:off x="8951976" y="1463040"/>
            <a:ext cx="2560320" cy="502920"/>
          </a:xfrm>
          <a:prstGeom prst="rect">
            <a:avLst/>
          </a:prstGeom>
          <a:noFill/>
        </p:spPr>
        <p:txBody>
          <a:bodyPr wrap="square">
            <a:spAutoFit/>
          </a:bodyPr>
          <a:lstStyle/>
          <a:p>
            <a:pPr algn="ctr"/>
            <a:r>
              <a:rPr sz="850" b="0" i="0">
                <a:solidFill>
                  <a:srgbClr val="B4C3D2"/>
                </a:solidFill>
              </a:rPr>
              <a:t>WAM Portal worked (2012-2026)</a:t>
            </a:r>
          </a:p>
        </p:txBody>
      </p:sp>
      <p:sp>
        <p:nvSpPr>
          <p:cNvPr id="16" name="Rectangle 15"/>
          <p:cNvSpPr/>
          <p:nvPr/>
        </p:nvSpPr>
        <p:spPr>
          <a:xfrm>
            <a:off x="274320" y="2176272"/>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267712"/>
            <a:ext cx="2560320" cy="640080"/>
          </a:xfrm>
          <a:prstGeom prst="rect">
            <a:avLst/>
          </a:prstGeom>
          <a:noFill/>
        </p:spPr>
        <p:txBody>
          <a:bodyPr wrap="square">
            <a:spAutoFit/>
          </a:bodyPr>
          <a:lstStyle/>
          <a:p>
            <a:pPr algn="ctr"/>
            <a:r>
              <a:rPr sz="2200" b="1" i="0">
                <a:solidFill>
                  <a:srgbClr val="FFFFFF"/>
                </a:solidFill>
              </a:rPr>
              <a:t>10 Jul</a:t>
            </a:r>
          </a:p>
        </p:txBody>
      </p:sp>
      <p:sp>
        <p:nvSpPr>
          <p:cNvPr id="18" name="TextBox 17"/>
          <p:cNvSpPr txBox="1"/>
          <p:nvPr/>
        </p:nvSpPr>
        <p:spPr>
          <a:xfrm>
            <a:off x="365760" y="2862072"/>
            <a:ext cx="2560320" cy="502920"/>
          </a:xfrm>
          <a:prstGeom prst="rect">
            <a:avLst/>
          </a:prstGeom>
          <a:noFill/>
        </p:spPr>
        <p:txBody>
          <a:bodyPr wrap="square">
            <a:spAutoFit/>
          </a:bodyPr>
          <a:lstStyle/>
          <a:p>
            <a:pPr algn="ctr"/>
            <a:r>
              <a:rPr sz="850" b="0" i="0">
                <a:solidFill>
                  <a:srgbClr val="B4C3D2"/>
                </a:solidFill>
              </a:rPr>
              <a:t>WAM shutdown, payments stopped</a:t>
            </a:r>
          </a:p>
        </p:txBody>
      </p:sp>
      <p:sp>
        <p:nvSpPr>
          <p:cNvPr id="19" name="Rectangle 18"/>
          <p:cNvSpPr/>
          <p:nvPr/>
        </p:nvSpPr>
        <p:spPr>
          <a:xfrm>
            <a:off x="3136391" y="2176272"/>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27832" y="2267712"/>
            <a:ext cx="2560320" cy="640080"/>
          </a:xfrm>
          <a:prstGeom prst="rect">
            <a:avLst/>
          </a:prstGeom>
          <a:noFill/>
        </p:spPr>
        <p:txBody>
          <a:bodyPr wrap="square">
            <a:spAutoFit/>
          </a:bodyPr>
          <a:lstStyle/>
          <a:p>
            <a:pPr algn="ctr"/>
            <a:r>
              <a:rPr sz="2200" b="1" i="0">
                <a:solidFill>
                  <a:srgbClr val="FFFFFF"/>
                </a:solidFill>
              </a:rPr>
              <a:t>4 Bugs</a:t>
            </a:r>
          </a:p>
        </p:txBody>
      </p:sp>
      <p:sp>
        <p:nvSpPr>
          <p:cNvPr id="21" name="TextBox 20"/>
          <p:cNvSpPr txBox="1"/>
          <p:nvPr/>
        </p:nvSpPr>
        <p:spPr>
          <a:xfrm>
            <a:off x="3227832" y="2862072"/>
            <a:ext cx="2560320" cy="502920"/>
          </a:xfrm>
          <a:prstGeom prst="rect">
            <a:avLst/>
          </a:prstGeom>
          <a:noFill/>
        </p:spPr>
        <p:txBody>
          <a:bodyPr wrap="square">
            <a:spAutoFit/>
          </a:bodyPr>
          <a:lstStyle/>
          <a:p>
            <a:pPr algn="ctr"/>
            <a:r>
              <a:rPr sz="850" b="0" i="0">
                <a:solidFill>
                  <a:srgbClr val="B4C3D2"/>
                </a:solidFill>
              </a:rPr>
              <a:t>Documented in official complaint email</a:t>
            </a:r>
          </a:p>
        </p:txBody>
      </p:sp>
      <p:sp>
        <p:nvSpPr>
          <p:cNvPr id="22" name="Rectangle 21"/>
          <p:cNvSpPr/>
          <p:nvPr/>
        </p:nvSpPr>
        <p:spPr>
          <a:xfrm>
            <a:off x="5998464" y="2176272"/>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9903" y="2267712"/>
            <a:ext cx="2560320" cy="640080"/>
          </a:xfrm>
          <a:prstGeom prst="rect">
            <a:avLst/>
          </a:prstGeom>
          <a:noFill/>
        </p:spPr>
        <p:txBody>
          <a:bodyPr wrap="square">
            <a:spAutoFit/>
          </a:bodyPr>
          <a:lstStyle/>
          <a:p>
            <a:pPr algn="ctr"/>
            <a:r>
              <a:rPr sz="2200" b="1" i="0">
                <a:solidFill>
                  <a:srgbClr val="FFFFFF"/>
                </a:solidFill>
              </a:rPr>
              <a:t>6 Months</a:t>
            </a:r>
          </a:p>
        </p:txBody>
      </p:sp>
      <p:sp>
        <p:nvSpPr>
          <p:cNvPr id="24" name="TextBox 23"/>
          <p:cNvSpPr txBox="1"/>
          <p:nvPr/>
        </p:nvSpPr>
        <p:spPr>
          <a:xfrm>
            <a:off x="6089903" y="2862072"/>
            <a:ext cx="2560320" cy="502920"/>
          </a:xfrm>
          <a:prstGeom prst="rect">
            <a:avLst/>
          </a:prstGeom>
          <a:noFill/>
        </p:spPr>
        <p:txBody>
          <a:bodyPr wrap="square">
            <a:spAutoFit/>
          </a:bodyPr>
          <a:lstStyle/>
          <a:p>
            <a:pPr algn="ctr"/>
            <a:r>
              <a:rPr sz="850" b="0" i="0">
                <a:solidFill>
                  <a:srgbClr val="B4C3D2"/>
                </a:solidFill>
              </a:rPr>
              <a:t>AS-ID delay: Physical Oct 2025, IFMS Apr 2026</a:t>
            </a:r>
          </a:p>
        </p:txBody>
      </p:sp>
      <p:sp>
        <p:nvSpPr>
          <p:cNvPr id="25" name="Rectangle 24"/>
          <p:cNvSpPr/>
          <p:nvPr/>
        </p:nvSpPr>
        <p:spPr>
          <a:xfrm>
            <a:off x="8860536" y="2176272"/>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51976" y="2267712"/>
            <a:ext cx="2560320" cy="640080"/>
          </a:xfrm>
          <a:prstGeom prst="rect">
            <a:avLst/>
          </a:prstGeom>
          <a:noFill/>
        </p:spPr>
        <p:txBody>
          <a:bodyPr wrap="square">
            <a:spAutoFit/>
          </a:bodyPr>
          <a:lstStyle/>
          <a:p>
            <a:pPr algn="ctr"/>
            <a:r>
              <a:rPr sz="2200" b="1" i="0">
                <a:solidFill>
                  <a:srgbClr val="FFFFFF"/>
                </a:solidFill>
              </a:rPr>
              <a:t>0</a:t>
            </a:r>
          </a:p>
        </p:txBody>
      </p:sp>
      <p:sp>
        <p:nvSpPr>
          <p:cNvPr id="27" name="TextBox 26"/>
          <p:cNvSpPr txBox="1"/>
          <p:nvPr/>
        </p:nvSpPr>
        <p:spPr>
          <a:xfrm>
            <a:off x="8951976" y="2862072"/>
            <a:ext cx="2560320" cy="502920"/>
          </a:xfrm>
          <a:prstGeom prst="rect">
            <a:avLst/>
          </a:prstGeom>
          <a:noFill/>
        </p:spPr>
        <p:txBody>
          <a:bodyPr wrap="square">
            <a:spAutoFit/>
          </a:bodyPr>
          <a:lstStyle/>
          <a:p>
            <a:pPr algn="ctr"/>
            <a:r>
              <a:rPr sz="850" b="0" i="0">
                <a:solidFill>
                  <a:srgbClr val="B4C3D2"/>
                </a:solidFill>
              </a:rPr>
              <a:t>Helpline/Email replies — Zero response</a:t>
            </a:r>
          </a:p>
        </p:txBody>
      </p:sp>
      <p:sp>
        <p:nvSpPr>
          <p:cNvPr id="28" name="Rectangle 27"/>
          <p:cNvSpPr/>
          <p:nvPr/>
        </p:nvSpPr>
        <p:spPr>
          <a:xfrm>
            <a:off x="274320" y="3575304"/>
            <a:ext cx="2743200" cy="1234440"/>
          </a:xfrm>
          <a:prstGeom prst="rect">
            <a:avLst/>
          </a:prstGeom>
          <a:solidFill>
            <a:srgbClr val="285080"/>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666744"/>
            <a:ext cx="2560320" cy="640080"/>
          </a:xfrm>
          <a:prstGeom prst="rect">
            <a:avLst/>
          </a:prstGeom>
          <a:noFill/>
        </p:spPr>
        <p:txBody>
          <a:bodyPr wrap="square">
            <a:spAutoFit/>
          </a:bodyPr>
          <a:lstStyle/>
          <a:p>
            <a:pPr algn="ctr"/>
            <a:r>
              <a:rPr sz="2200" b="1" i="0">
                <a:solidFill>
                  <a:srgbClr val="FFFFFF"/>
                </a:solidFill>
              </a:rPr>
              <a:t>DSC</a:t>
            </a:r>
          </a:p>
        </p:txBody>
      </p:sp>
      <p:sp>
        <p:nvSpPr>
          <p:cNvPr id="30" name="TextBox 29"/>
          <p:cNvSpPr txBox="1"/>
          <p:nvPr/>
        </p:nvSpPr>
        <p:spPr>
          <a:xfrm>
            <a:off x="365760" y="4261104"/>
            <a:ext cx="2560320" cy="502920"/>
          </a:xfrm>
          <a:prstGeom prst="rect">
            <a:avLst/>
          </a:prstGeom>
          <a:noFill/>
        </p:spPr>
        <p:txBody>
          <a:bodyPr wrap="square">
            <a:spAutoFit/>
          </a:bodyPr>
          <a:lstStyle/>
          <a:p>
            <a:pPr algn="ctr"/>
            <a:r>
              <a:rPr sz="850" b="0" i="0">
                <a:solidFill>
                  <a:srgbClr val="B4C3D2"/>
                </a:solidFill>
              </a:rPr>
              <a:t>At computer centre — IT Act 66C violation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Ch.1</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WAM Portal — नींव और वादा (2012)</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WAM Portal — Foundation &amp; Promise (2012)</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वर्ष 2012 में राजस्थान सरकार ने PWD और Irrigation के ठेकेदारों के लिए WAM portal
लॉन्च किया। 14 वर्षों तक यह प्रणाली — खामियों के बावजूद — काम करती रही। 6 July
2026 तक सब संतोषजनक था।</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In 2012 Rajasthan launched wam.rajasthan.gov.in integrated with PayManager for
direct contractor payments. For 14 years, despite flaws, the system functioned.
Payments were processed. The last successful payment was 6 July 2026.</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E5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Ch.2</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WAM की छुपी खामियां — जो कभी नहीं सुधरीं</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WAM's Hidden Flaws — Never Fixed</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खामी 1: Bill केवल कागज़ पर — contractors कभी खुद bill नहीं बनाते थे। खामी 2:
पारदर्शिता शून्य — नागरिकों के लिए कोई window नहीं। ये खामियां IFMS 3.0 में भी
जारी हैं।</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Flaw 1: Bill Submission only on paper — contractors never self-submitted. Flaw
2: Zero public transparency — no citizen window for bill status or payment
history. Both flaws carried into IFMS 2.0 and 3.0.</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244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Ch.3</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IFMS 2.0 — महत्वाकांक्षी सुधार, नई उलझनें</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IFMS 2.0 — Ambitious Reform, New Entanglements (Jan 2025)</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जनवरी 2025 से 7 अनिवार्य IDs प्रति कार्य। तीन नई समस्याएं: Document overload,
Electronic MB केवल कागज़ पर, Outsourcing विस्फोट — ₹20 लाख/Division/वर्ष, कुल
नुकसान ₹40 करोड़+।</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January 2025: 7 mandatory IDs per work (Work-ID, AS-ID, TS-ID, BOQ-ID, Package-
ID, WO-ID, Abstract-ID). Electronic MB on mb.rajasthan.gov.in. Three new
problems: Document overload, electronic MB remained on paper only, outsourcing
explosion at ₹20L/Division/year totalling ₹40 Cr+ state-wide.</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A3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Ch.4</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IFMS 2.0 का अंधेरा पहलू — Scam और Accountability का पतन</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IFMS 2.0 Dark Side — Scam &amp; Accountability Collapse</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Morphed Photo Scam: झूठी progress photos portal पर। OTP दुरुपयोग: Divisional
Accountants ने OTP operators को दिए। सरकारी accountability पूरी तरह बाहरी हाथों
में।</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Morphed Photo Scam: Digitally edited photos uploaded as progress evidence — work
not done on ground. OTP Abuse: Divisional Accountants gave their OTPs to
computer operators. Government accountability fully outsourced to unqualified
private parties.</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814"/>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Ch.4B</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AS/FS ID देरी घोटाला और HO Credential दलाली</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AS/FS ID Delay Scam &amp; Head Office Credential Bribery</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Physical AS/FS: Oct 2025। Tender: Jan 2026। पहला bill: Apr 2026 — FS-ID absent।
Division staff पहली बार Apr 2026 में AS-ID बनाता है — 6 माह देरी से। Contractor
को 'secret bytes' मिलते हैं। HO में रिश्वत। Operator HO credentials से FS-ID
generate करता है। IP Audit Trail सब उजागर कर सकता है।</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Physical AS/FS issued Oct 2025. Tender Jan 2026. Work Order Jan last week. First
bill Apr 2026 — FS-ID absent. Division staff creates AS-ID in April — 6 months
late. Contractor gets 'secret bytes', approaches HO. Certain operators hold HO
officer login credentials and generate FS-ID instantly for bribe. IP Login Audit
can expose this trail.</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0533"/>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Ch.5</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वह काली जुलाई — WAM बंद, IFMS 3.0 तैयार नहीं</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Black July — WAM Shutdown, IFMS 3.0 Not Ready</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2 Jul: Training + IFMS 3.0 घोषणा। 6 Jul: WAM पर आखिरी payment। 10 Jul: WAM पूरी
तरह बंद। 1 Aug: Portal टूटा — Vendor names गायब, Security deposits integrate
नहीं, Bills ठप।</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2 Jul: Training given, IFMS 3.0 announced. 6 Jul: Last WAM payment. 10 Jul: WAM
fully shut. 1 Aug: Portal still broken — vendor names missing, security deposits
not integrated, bills completely stopped.</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42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Ch.6</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IFMS 3.0 — कागज़ पर सुरक्षित, ज़मीन पर खोखली</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IFMS 3.0 — Secure on Paper, Hollow on Ground</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सरकार का vision: Maker-Checker-Approver तीन-स्तरीय verification। ज़मीनी हकीकत:
90% XEN IFMS portal का inbox तक login नहीं कर पाते। एक operator तीनों roles
निभाता है।</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Government vision: Maker-Checker-Approver three-tier verification. Ground
reality: 90% XEN cannot even login to IFMS portal inbox. Engineers handed OTPs
to operators. One external operator performs Maker + Checker + Approver roles —
three-tier verification soul destroyed.</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Ch.6A</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आदर्श Maker-Checker-Approver Delegation Matrix</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Ideal Maker-Checker-Approver Delegation Matrix</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तकनीकी विशेषज्ञ का प्रस्तावित framework: AS&amp;FS: AE/SDC→Div Auditor→XEN |
Sanction: Div Auditor→Div Accountant→XEN | TS/BOQ/Package/WO/Abstract: AE→TA→XEN
| Vendor Bill &amp; Refund: AE/SDC→Div Auditor→XEN। सरकार ने कोई Statutory Circular
नहीं दिया — यही घातक चूक है।</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Technical expert proposed framework: AS&amp;FS: AE/Sub-Div Clerk→Div Auditor→XEN |
Sanction: Div Auditor→Div Accountant→XEN | TS/BOQ/Package/WO/Abstract: AE→TA→XEN
| Vendor Bill &amp; Refund: AE/Sub-Div Clerk→Div Auditor→XEN. Government has issued
NO statutory circular mandating this delegation — fatal omission enabling one-
operator monopoly.</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E5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Ch.6B</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Digital Signature का बाज़ार — XEN का DSC Computer Centre पर</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Digital Signature Abuse — DSC at Market Computer Centres</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किसी XEN ने IFMS login नहीं किया। DSC बाज़ार के computer centre पर। Operator XEN
के DSC से Maker, Checker, Approver — तीनों roles निभाता है। IT Act 66C: किसी और
की digital identity का उपयोग = 3 वर्ष कारावास।</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No XEN has logged into IFMS. Their Digital Signature Certificates are kept at
market computer centres. The operator uses the XEN's DSC to sign as Maker,
Checker, AND Approver. IT Act 66C: using another person's digital identity = 3
years imprisonment. This crime is happening daily in government offices.</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244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Ch.7</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1 August 2026 — Portal Status: 4 Documented Bugs</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1 August 2026 — Portal Status: 4 Documented Bugs</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Official complaint: employeehelpdesk.ifms@rajasthan.gov.in — कोई reply नहीं। Bug
1: Vendor list अधूरी। Bug 2: Security Refund balance absent। Bug 3: July Report
non-responsive। Bug 4: Disbursement Engine page blank।</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Official complaint email to employeehelpdesk.ifms@rajasthan.gov.in — no reply.
Bug #1: Vendor selection list incomplete, not alphabetical. Bug #2: Security
Refund balance not showing. Bug #3: July Monthly Report non-responsive. Bug #4:
Disbursement Engine WAM page blank.</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Ch.8</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IFMS Helpline: संपर्क नहीं, समाधान नहीं</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IFMS Helpline: No Contact, No Solution</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सभी IFMS helpline numbers non-responsive। Email:
employeehelpdesk.ifms@rajasthan.gov.in — silent। NIC support desk काम नहीं करता।
कोई escalation matrix नहीं। Officers WhatsApp groups पर निर्भर।</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All IFMS 3.0 helpline numbers non-responsive. Official email
employeehelpdesk.ifms@rajasthan.gov.in silent. NIC support desk not functional.
No escalation matrix. No dedicated 24x7 toll-free line. Officers resort to
unofficial WhatsApp groups.</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2E5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Ch.8B</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~200 रद्द अनुबंध — वसूली शून्य: नामित ठेकेदार बेखौफ</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~200 Rescinded Contracts — Zero Recovery: Named Defaulters Walk Free</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~200 contracts rescinded — Risk and Cost tenders floated — लेकिन recovery
monitor नहीं होती। तीन नामित मामले: (1) भैरवजी Bridge, बाँसवाड़ा — rescinded,
वसूली शून्य। (2) Kotada Road, उदयपुर — rescinded, differential cost unrecovered।
(3) Gannon Dunkerlay — established company, contract rescinded, department
entitlement unexercised, company walked free। Rescission एक कागज़ी खतरा बन गया —
असली financial liability नहीं। ठेकेदार के लिए contract तोड़ने का कोई दाम नहीं।</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Approximately 200 contracts have been rescinded for incomplete execution in
Rajasthan PWD. Risk-and-cost tenders were invited. But there is no regular
monitoring of recovery against defaulters. Three named examples: (1) Bhairavji
Bridge, Banswara — rescinded, risk-and-cost tender floated, zero recovery from
contractor. (2) Kotada Road, Udaipur — rescinded, differential cost unrecovered.
(3) Gannon Dunkerlay &amp; Company — established firm, contract rescinded,
substantial department entitlement unexercised, company walked free. Pattern:
rescission is a paper threat, not a real financial liability. Mandatory reforms:
centralised risk-and-cost recovery register in IFMS, mandatory blacklisting
until full recovery, named-case CAG audit and ACB investigation.</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244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Ch.9</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सात तत्काल माँगें</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Seven Immediate Demands</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1. Statutory Delegation Order (Gazette Notification)। 2. नागरिक पारदर्शिता। 3.
DSC अधिकारी के पास — operator के नहीं। 4. अनिवार्य Training। 5. Portal bugs
deadline के साथ fix हों। 6. 24×7 Dedicated Helpline। 7. Independent Monitoring
Committee।</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1. Statutory Delegation Order (Gazette Notification). 2. Citizen Transparency.
3. DSC must stay with officer — not at computer centre. 4. Mandatory
comprehensive training. 5. Portal bugs fixed with deadline. 6. 24x7 dedicated
helpline. 7. Independent Monitoring Committee.</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2A3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64592"/>
            <a:ext cx="10058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64592"/>
            <a:ext cx="1005840" cy="411480"/>
          </a:xfrm>
          <a:prstGeom prst="rect">
            <a:avLst/>
          </a:prstGeom>
          <a:noFill/>
        </p:spPr>
        <p:txBody>
          <a:bodyPr wrap="square">
            <a:spAutoFit/>
          </a:bodyPr>
          <a:lstStyle/>
          <a:p>
            <a:pPr algn="ctr"/>
            <a:r>
              <a:rPr sz="1100" b="1" i="0">
                <a:solidFill>
                  <a:srgbClr val="FFFFFF"/>
                </a:solidFill>
              </a:rPr>
              <a:t>Ch.10</a:t>
            </a:r>
          </a:p>
        </p:txBody>
      </p:sp>
      <p:sp>
        <p:nvSpPr>
          <p:cNvPr id="6" name="TextBox 5"/>
          <p:cNvSpPr txBox="1"/>
          <p:nvPr/>
        </p:nvSpPr>
        <p:spPr>
          <a:xfrm>
            <a:off x="1417320" y="137160"/>
            <a:ext cx="10424160" cy="548640"/>
          </a:xfrm>
          <a:prstGeom prst="rect">
            <a:avLst/>
          </a:prstGeom>
          <a:noFill/>
        </p:spPr>
        <p:txBody>
          <a:bodyPr wrap="square">
            <a:spAutoFit/>
          </a:bodyPr>
          <a:lstStyle/>
          <a:p>
            <a:pPr algn="l"/>
            <a:r>
              <a:rPr sz="1800" b="1" i="0">
                <a:solidFill>
                  <a:srgbClr val="FFFFFF"/>
                </a:solidFill>
              </a:rPr>
              <a:t>चौथे स्तंभ से आह्वान — 10 मीडिया माँगें</a:t>
            </a:r>
          </a:p>
        </p:txBody>
      </p:sp>
      <p:sp>
        <p:nvSpPr>
          <p:cNvPr id="7" name="TextBox 6"/>
          <p:cNvSpPr txBox="1"/>
          <p:nvPr/>
        </p:nvSpPr>
        <p:spPr>
          <a:xfrm>
            <a:off x="1417320" y="658368"/>
            <a:ext cx="10424160" cy="411480"/>
          </a:xfrm>
          <a:prstGeom prst="rect">
            <a:avLst/>
          </a:prstGeom>
          <a:noFill/>
        </p:spPr>
        <p:txBody>
          <a:bodyPr wrap="square">
            <a:spAutoFit/>
          </a:bodyPr>
          <a:lstStyle/>
          <a:p>
            <a:pPr algn="l"/>
            <a:r>
              <a:rPr sz="1200" b="1" i="0">
                <a:solidFill>
                  <a:srgbClr val="A0C8DC"/>
                </a:solidFill>
              </a:rPr>
              <a:t>Call to the Fourth Estate — 10 Media Demands</a:t>
            </a:r>
          </a:p>
        </p:txBody>
      </p:sp>
      <p:sp>
        <p:nvSpPr>
          <p:cNvPr id="8" name="Rectangle 7"/>
          <p:cNvSpPr/>
          <p:nvPr/>
        </p:nvSpPr>
        <p:spPr>
          <a:xfrm>
            <a:off x="274320" y="1170432"/>
            <a:ext cx="11640312" cy="274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280160"/>
            <a:ext cx="5669280" cy="5029200"/>
          </a:xfrm>
          <a:prstGeom prst="rect">
            <a:avLst/>
          </a:prstGeom>
          <a:noFill/>
        </p:spPr>
        <p:txBody>
          <a:bodyPr wrap="square">
            <a:spAutoFit/>
          </a:bodyPr>
          <a:lstStyle/>
          <a:p>
            <a:pPr algn="l"/>
            <a:r>
              <a:rPr sz="1100" b="0" i="0">
                <a:solidFill>
                  <a:srgbClr val="DCE1E6"/>
                </a:solidFill>
              </a:rPr>
              <a:t>1.Delegation RTI 2.AS/FS Backdating CAG Audit 3.IP Login Audit→ACB 4.XEN Login
Sting 5.DSC Location Check 6.Live Helpline Test 7.Morphed Photo Expose 8.Public
Audit माँग 9.One Operator Three Roles Expose 10.Public Monitoring अनिवार्य।</a:t>
            </a:r>
          </a:p>
        </p:txBody>
      </p:sp>
      <p:sp>
        <p:nvSpPr>
          <p:cNvPr id="10" name="TextBox 9"/>
          <p:cNvSpPr txBox="1"/>
          <p:nvPr/>
        </p:nvSpPr>
        <p:spPr>
          <a:xfrm>
            <a:off x="6217920" y="1280160"/>
            <a:ext cx="5669280" cy="5029200"/>
          </a:xfrm>
          <a:prstGeom prst="rect">
            <a:avLst/>
          </a:prstGeom>
          <a:noFill/>
        </p:spPr>
        <p:txBody>
          <a:bodyPr wrap="square">
            <a:spAutoFit/>
          </a:bodyPr>
          <a:lstStyle/>
          <a:p>
            <a:pPr algn="l"/>
            <a:r>
              <a:rPr sz="1050" b="0" i="1">
                <a:solidFill>
                  <a:srgbClr val="AAB9C3"/>
                </a:solidFill>
              </a:rPr>
              <a:t>1.RTI on delegation circular 2.AS/FS backdating CAG audit 3.IP Login Audit→ACB
4.XEN Login sting 5.DSC location check 6.Live helpline call test 7.Morphed photo
expose 8.Public audit demand 9.One operator three roles expose 10.Public
monitoring mandate.</a:t>
            </a:r>
          </a:p>
        </p:txBody>
      </p:sp>
      <p:sp>
        <p:nvSpPr>
          <p:cNvPr id="11" name="Rectangle 10"/>
          <p:cNvSpPr/>
          <p:nvPr/>
        </p:nvSpPr>
        <p:spPr>
          <a:xfrm>
            <a:off x="6035040" y="1280160"/>
            <a:ext cx="27432" cy="5029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97280" cy="274320"/>
          </a:xfrm>
          <a:prstGeom prst="rect">
            <a:avLst/>
          </a:prstGeom>
          <a:noFill/>
        </p:spPr>
        <p:txBody>
          <a:bodyPr wrap="square">
            <a:spAutoFit/>
          </a:bodyPr>
          <a:lstStyle/>
          <a:p>
            <a:pPr algn="r"/>
            <a:r>
              <a:rPr sz="800" b="0" i="0">
                <a:solidFill>
                  <a:srgbClr val="64788C"/>
                </a:solidFill>
              </a:rPr>
              <a:t>16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F1D1D"/>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1274552" cy="731520"/>
          </a:xfrm>
          <a:prstGeom prst="rect">
            <a:avLst/>
          </a:prstGeom>
          <a:noFill/>
        </p:spPr>
        <p:txBody>
          <a:bodyPr wrap="square">
            <a:spAutoFit/>
          </a:bodyPr>
          <a:lstStyle/>
          <a:p>
            <a:pPr algn="ctr"/>
            <a:r>
              <a:rPr sz="2200" b="1" i="0">
                <a:solidFill>
                  <a:srgbClr val="FFFFFF"/>
                </a:solidFill>
              </a:rPr>
              <a:t>🚨  ACT NOW  —  अभी कार्रवाई करें  🚨</a:t>
            </a:r>
          </a:p>
        </p:txBody>
      </p:sp>
      <p:sp>
        <p:nvSpPr>
          <p:cNvPr id="5" name="TextBox 4"/>
          <p:cNvSpPr txBox="1"/>
          <p:nvPr/>
        </p:nvSpPr>
        <p:spPr>
          <a:xfrm>
            <a:off x="457200" y="1371600"/>
            <a:ext cx="11274552" cy="914400"/>
          </a:xfrm>
          <a:prstGeom prst="rect">
            <a:avLst/>
          </a:prstGeom>
          <a:noFill/>
        </p:spPr>
        <p:txBody>
          <a:bodyPr wrap="square">
            <a:spAutoFit/>
          </a:bodyPr>
          <a:lstStyle/>
          <a:p>
            <a:pPr algn="ctr"/>
            <a:r>
              <a:rPr sz="1400" b="0" i="0">
                <a:solidFill>
                  <a:srgbClr val="FFC8C8"/>
                </a:solidFill>
              </a:rPr>
              <a:t>RTI FILE करें  •  CAG Audit माँगें  •  ACB को सूचित करें
File RTI  •  Demand CAG Audit  •  Alert Anti-Corruption Bureau</a:t>
            </a:r>
          </a:p>
        </p:txBody>
      </p:sp>
      <p:sp>
        <p:nvSpPr>
          <p:cNvPr id="6" name="TextBox 5"/>
          <p:cNvSpPr txBox="1"/>
          <p:nvPr/>
        </p:nvSpPr>
        <p:spPr>
          <a:xfrm>
            <a:off x="914400" y="2743200"/>
            <a:ext cx="10360152" cy="2560320"/>
          </a:xfrm>
          <a:prstGeom prst="rect">
            <a:avLst/>
          </a:prstGeom>
          <a:noFill/>
        </p:spPr>
        <p:txBody>
          <a:bodyPr wrap="square">
            <a:spAutoFit/>
          </a:bodyPr>
          <a:lstStyle/>
          <a:p>
            <a:pPr algn="ctr"/>
            <a:r>
              <a:rPr sz="1600" b="0" i="1">
                <a:solidFill>
                  <a:srgbClr val="FFFFFF"/>
                </a:solidFill>
              </a:rPr>
              <a:t>"जब तक system की monitoring नहीं होगी —
जनता का पैसा डूबता रहेगा।"
"Until the system is monitored,
public money will keep draining."</a:t>
            </a:r>
          </a:p>
        </p:txBody>
      </p:sp>
      <p:sp>
        <p:nvSpPr>
          <p:cNvPr id="7" name="TextBox 6"/>
          <p:cNvSpPr txBox="1"/>
          <p:nvPr/>
        </p:nvSpPr>
        <p:spPr>
          <a:xfrm>
            <a:off x="457200" y="6217920"/>
            <a:ext cx="11274552" cy="457200"/>
          </a:xfrm>
          <a:prstGeom prst="rect">
            <a:avLst/>
          </a:prstGeom>
          <a:noFill/>
        </p:spPr>
        <p:txBody>
          <a:bodyPr wrap="square">
            <a:spAutoFit/>
          </a:bodyPr>
          <a:lstStyle/>
          <a:p>
            <a:pPr algn="ctr"/>
            <a:r>
              <a:rPr sz="900" b="0" i="0">
                <a:solidFill>
                  <a:srgbClr val="C89696"/>
                </a:solidFill>
              </a:rPr>
              <a:t>जन संवाददाता  |  6 August 2026  |  Public Interest Investigation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