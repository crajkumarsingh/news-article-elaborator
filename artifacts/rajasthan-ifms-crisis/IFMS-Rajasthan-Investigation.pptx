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9488"/>
                </a:solidFill>
              </a:rPr>
              <a:t>जन संवाददाता  |  JAN SAMVADDAATA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9C8"/>
                </a:solidFill>
              </a:rPr>
              <a:t>खोजी पत्रकारिता  |  INVESTIGATIVE JOURNALISM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445752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127455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राजस्थान का डिजिटल भुगतान संकट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A0C8DC"/>
                </a:solidFill>
              </a:rPr>
              <a:t>Rajasthan's Digital Payment Crisis: The IFMS 3.0 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AFB9AF"/>
                </a:solidFill>
              </a:rPr>
              <a:t>WAM बंद · IFMS टूटा · Helpline मौन · Delegation गायब · DSC बाज़ार में · AS/FS देरी · HO Credential दलाली · 200 रद्द अनुबंध · Recovery Portal नहीं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22191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9BAAA0"/>
                </a:solidFill>
              </a:rPr>
              <a:t>A complete investigative report on Rajasthan PWD &amp; Irrigation's digital governance collapse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4480560"/>
            <a:ext cx="9445752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46177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E8291"/>
                </a:solidFill>
              </a:rPr>
              <a:t>जन संवाददाता | Jan Samvaddaata  •  6 August 2026  •  PWD &amp; Irrigation Bureau, Rajasthan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9488"/>
                </a:solidFill>
              </a:rPr>
              <a:t>AT A GLANCE  —  मुख्य तथ्य  |  KEY FACTS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685800"/>
            <a:ext cx="2743200" cy="1188720"/>
          </a:xfrm>
          <a:prstGeom prst="rect">
            <a:avLst/>
          </a:prstGeom>
          <a:solidFill>
            <a:srgbClr val="285080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758952"/>
            <a:ext cx="25968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~200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344168"/>
            <a:ext cx="259689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FBECD"/>
                </a:solidFill>
              </a:rPr>
              <a:t>PWD Divisions affected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36391" y="685800"/>
            <a:ext cx="2743200" cy="1188720"/>
          </a:xfrm>
          <a:prstGeom prst="rect">
            <a:avLst/>
          </a:prstGeom>
          <a:solidFill>
            <a:srgbClr val="285080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9544" y="758952"/>
            <a:ext cx="25968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₹40Cr+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9544" y="1344168"/>
            <a:ext cx="259689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FBECD"/>
                </a:solidFill>
              </a:rPr>
              <a:t>Annual outsourcing loss statewide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98464" y="685800"/>
            <a:ext cx="2743200" cy="1188720"/>
          </a:xfrm>
          <a:prstGeom prst="rect">
            <a:avLst/>
          </a:prstGeom>
          <a:solidFill>
            <a:srgbClr val="285080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616" y="758952"/>
            <a:ext cx="25968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10 Jul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1616" y="1344168"/>
            <a:ext cx="259689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FBECD"/>
                </a:solidFill>
              </a:rPr>
              <a:t>WAM shutdown — payments stopped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0536" y="685800"/>
            <a:ext cx="2743200" cy="1188720"/>
          </a:xfrm>
          <a:prstGeom prst="rect">
            <a:avLst/>
          </a:prstGeom>
          <a:solidFill>
            <a:srgbClr val="285080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33688" y="758952"/>
            <a:ext cx="25968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 Bugs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688" y="1344168"/>
            <a:ext cx="259689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FBECD"/>
                </a:solidFill>
              </a:rPr>
              <a:t>Documented in official complaint email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020824"/>
            <a:ext cx="2743200" cy="1188720"/>
          </a:xfrm>
          <a:prstGeom prst="rect">
            <a:avLst/>
          </a:prstGeom>
          <a:solidFill>
            <a:srgbClr val="285080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2093976"/>
            <a:ext cx="25968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 Mths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2679191"/>
            <a:ext cx="259689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FBECD"/>
                </a:solidFill>
              </a:rPr>
              <a:t>AS-ID delay: Physical Oct 2025, IFMS Apr 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36391" y="2020824"/>
            <a:ext cx="2743200" cy="1188720"/>
          </a:xfrm>
          <a:prstGeom prst="rect">
            <a:avLst/>
          </a:prstGeom>
          <a:solidFill>
            <a:srgbClr val="285080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9544" y="2093976"/>
            <a:ext cx="25968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DSC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9544" y="2679191"/>
            <a:ext cx="259689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FBECD"/>
                </a:solidFill>
              </a:rPr>
              <a:t>At computer centre — IT Act 66C violation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98464" y="2020824"/>
            <a:ext cx="2743200" cy="1188720"/>
          </a:xfrm>
          <a:prstGeom prst="rect">
            <a:avLst/>
          </a:prstGeom>
          <a:solidFill>
            <a:srgbClr val="285080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1616" y="2093976"/>
            <a:ext cx="25968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~200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1616" y="2679191"/>
            <a:ext cx="259689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FBECD"/>
                </a:solidFill>
              </a:rPr>
              <a:t>Contracts rescinded — ZERO recovery monitoring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60536" y="2020824"/>
            <a:ext cx="2743200" cy="1188720"/>
          </a:xfrm>
          <a:prstGeom prst="rect">
            <a:avLst/>
          </a:prstGeom>
          <a:solidFill>
            <a:srgbClr val="285080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33688" y="2093976"/>
            <a:ext cx="25968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33688" y="2679191"/>
            <a:ext cx="259689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FBECD"/>
                </a:solidFill>
              </a:rPr>
              <a:t>Helpline replies — employeehelpdesk.ifms@rajasthan.gov.in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355848"/>
            <a:ext cx="2743200" cy="1188720"/>
          </a:xfrm>
          <a:prstGeom prst="rect">
            <a:avLst/>
          </a:prstGeom>
          <a:solidFill>
            <a:srgbClr val="285080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" y="3429000"/>
            <a:ext cx="25968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90 Days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" y="4014215"/>
            <a:ext cx="259689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FBECD"/>
                </a:solidFill>
              </a:rPr>
              <a:t>Time to build Recovery Portal — never done in 15 yrs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9728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WAM Portal — नींव और वादा (2012)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612648"/>
            <a:ext cx="10424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0C8DC"/>
                </a:solidFill>
              </a:rPr>
              <a:t>WAM Portal — Foundation &amp; Promise (2012)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33856"/>
            <a:ext cx="11640312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AE0E6"/>
                </a:solidFill>
              </a:rPr>
              <a:t>2012 में WAM portal लॉन्च — PayManager integration। 14 वर्ष काम किया। आखिरी
WAM payment: 6 July 2026।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9C3"/>
                </a:solidFill>
              </a:rPr>
              <a:t>In 2012 Rajasthan launched WAM portal integrated with PayManager. For 14
years, despite flaws, payments processed. Last successful WAM payment: 6 July
2026.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34440"/>
            <a:ext cx="27432" cy="5120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47382"/>
                </a:solidFill>
              </a:rPr>
              <a:t>Slide 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9728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WAM की छुपी खामियां — जो कभी नहीं सुधरीं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612648"/>
            <a:ext cx="10424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0C8DC"/>
                </a:solidFill>
              </a:rPr>
              <a:t>WAM's Hidden Flaws — Never Fixed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33856"/>
            <a:ext cx="11640312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AE0E6"/>
                </a:solidFill>
              </a:rPr>
              <a:t>खामी 1: Bill केवल कागज़ पर। खामी 2: Transparency शून्य। दोनों खामियाँ IFMS 3.0
में भी जारी।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9C3"/>
                </a:solidFill>
              </a:rPr>
              <a:t>Flaw 1: Bill submission only on paper — contractors never self-submitted. Flaw
2: Zero public transparency — no citizen window. Both flaws carried unchanged
into IFMS 3.0.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34440"/>
            <a:ext cx="27432" cy="5120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47382"/>
                </a:solidFill>
              </a:rPr>
              <a:t>Slide 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4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9728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IFMS 2.0 — नई उलझनें (जनवरी 2025)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612648"/>
            <a:ext cx="10424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0C8DC"/>
                </a:solidFill>
              </a:rPr>
              <a:t>IFMS 2.0 — New Entanglements (Jan 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33856"/>
            <a:ext cx="11640312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AE0E6"/>
                </a:solidFill>
              </a:rPr>
              <a:t>7 अनिवार्य IDs। तीन समस्याएं: Document overload, Electronic MB कागज़ पर,
Outsourcing विस्फोट ₹40 Cr+ वार्षिक नुकसान।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9C3"/>
                </a:solidFill>
              </a:rPr>
              <a:t>Jan 2025: 7 mandatory IDs per work. Three problems: Document overload,
Electronic MB stayed on paper only, Outsourcing explosion ₹20L/Division/year =
₹40 Cr+ statewide annual loss.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34440"/>
            <a:ext cx="27432" cy="5120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47382"/>
                </a:solidFill>
              </a:rPr>
              <a:t>Slide 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9728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IFMS 2.0 — Morphed Photo Scam, OTP दुरुपयोग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612648"/>
            <a:ext cx="10424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0C8DC"/>
                </a:solidFill>
              </a:rPr>
              <a:t>IFMS 2.0 Dark Side — Morphed Photos, OTP Abuse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33856"/>
            <a:ext cx="11640312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AE0E6"/>
                </a:solidFill>
              </a:rPr>
              <a:t>Morphed photos as progress proof। Divisional Accountants ने OTP operators को
दिए। सरकारी accountability outsource।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9C3"/>
                </a:solidFill>
              </a:rPr>
              <a:t>Morphed Photo Scam: Digitally edited photos uploaded as progress proof — work
not done on ground. OTP Abuse: Divisional Accountants handed OTPs to computer
operators. Government accountability fully outsourced.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34440"/>
            <a:ext cx="27432" cy="5120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47382"/>
                </a:solidFill>
              </a:rPr>
              <a:t>Slide 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Ch.4B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9728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AS/FS ID देरी घोटाला और HO Credential दलाली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612648"/>
            <a:ext cx="10424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0C8DC"/>
                </a:solidFill>
              </a:rPr>
              <a:t>AS/FS ID Delay Scam &amp; Head Office Credential Bribery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33856"/>
            <a:ext cx="11640312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AE0E6"/>
                </a:solidFill>
              </a:rPr>
              <a:t>Physical AS/FS Oct 2025 — IFMS ID April 2026: 6 माह देरी। FS-ID key to
treasury payment। Contractor को secret bytes — HO में रिश्वत। Operator HO
credentials से instant FS-ID। IP Audit trail सब उजागर कर सकता है।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9C3"/>
                </a:solidFill>
              </a:rPr>
              <a:t>Physical AS/FS: Oct 2025. Tender: Jan 2026. Work Order: Jan last week. First
bill attempt: Apr 2026 — FS-ID absent. AS-ID applied 6 months late. Contractor
gets secret bytes, approaches HO. Certain operators hold HO login credentials
and generate FS-ID for bribe. IP Login Audit can expose this trail.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34440"/>
            <a:ext cx="27432" cy="5120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47382"/>
                </a:solidFill>
              </a:rPr>
              <a:t>Slide 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9728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वह काली जुलाई — WAM बंद, IFMS 3.0 तैयार नहीं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612648"/>
            <a:ext cx="10424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0C8DC"/>
                </a:solidFill>
              </a:rPr>
              <a:t>Black July — WAM Shutdown, IFMS 3.0 Not Ready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33856"/>
            <a:ext cx="11640312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AE0E6"/>
                </a:solidFill>
              </a:rPr>
              <a:t>2 Jul: IFMS 3.0 घोषणा। 6 Jul: आखिरी WAM payment। 10 Jul: WAM बंद। 1 Aug:
Portal टूटा — Vendors गायब, Security deposits नहीं, Bills ठप।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9C3"/>
                </a:solidFill>
              </a:rPr>
              <a:t>2 Jul: Training + IFMS 3.0 announced. 6 Jul: Last WAM payment. 10 Jul: WAM
fully shutdown. 1 Aug 2026: Portal still broken — vendor names missing,
security deposits not integrated, bills completely stopped.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34440"/>
            <a:ext cx="27432" cy="5120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47382"/>
                </a:solidFill>
              </a:rPr>
              <a:t>Slide 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Ch.6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9728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IFMS 3.0 — कागज़ पर सुरक्षित, ज़मीन पर खोखली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612648"/>
            <a:ext cx="10424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0C8DC"/>
                </a:solidFill>
              </a:rPr>
              <a:t>IFMS 3.0 — Secure on Paper, Hollow on Ground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33856"/>
            <a:ext cx="11640312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AE0E6"/>
                </a:solidFill>
              </a:rPr>
              <a:t>Vision: Maker-Checker-Approver। Reality: 90% XEN login नहीं कर पाते। एक
operator तीनों roles। तीन-स्तरीय जाँच की आत्मा नष्ट।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9C3"/>
                </a:solidFill>
              </a:rPr>
              <a:t>Government vision: Maker-Checker-Approver three-tier verification. Ground
reality: 90% XEN cannot login to IFMS inbox. OTPs given to operators. One
external operator performs all three roles — the system's soul destroyed.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34440"/>
            <a:ext cx="27432" cy="5120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47382"/>
                </a:solidFill>
              </a:rPr>
              <a:t>Slide 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18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Ch.6A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9728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आदर्श Delegation Matrix — सरकार ने Statutory Compulsion नहीं दी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612648"/>
            <a:ext cx="10424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0C8DC"/>
                </a:solidFill>
              </a:rPr>
              <a:t>Ideal Delegation Matrix — 10 Tasks, 3 Officers Each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33856"/>
            <a:ext cx="11640312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AE0E6"/>
                </a:solidFill>
              </a:rPr>
              <a:t>10 tasks के लिए task-wise delegation: AS&amp;FS: AE/SDC→Div Auditor→XEN। Sanction:
Div Auditor→Div Accountant→XEN। TS/BOQ/Package/WO/Abstract: AE→TA→XEN। सरकार
ने कोई Statutory Circular नहीं दिया — यही घातक चूक।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9C3"/>
                </a:solidFill>
              </a:rPr>
              <a:t>Technical expert proposed framework: AS&amp;FS / Vendor Bill / Refund: AE/SDC →
Div Auditor → XEN. Sanction: Div Auditor → Div Accountant → XEN.
TS/BOQ/Package/WO/Abstract: AE → TA → XEN. Government issued NO statutory
circular mandating this delegation — fatal omission enabling monopoly
operator.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34440"/>
            <a:ext cx="27432" cy="5120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47382"/>
                </a:solidFill>
              </a:rPr>
              <a:t>Slide 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Ch.6B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9728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Digital Signature बाज़ार में — XEN का DSC Computer Centre पर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612648"/>
            <a:ext cx="10424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0C8DC"/>
                </a:solidFill>
              </a:rPr>
              <a:t>Digital Signature Abuse — DSC at Market Computer Centres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33856"/>
            <a:ext cx="11640312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AE0E6"/>
                </a:solidFill>
              </a:rPr>
              <a:t>कोई XEN login नहीं किया। DSC बाज़ार के computer centre पर। Operator XEN के DSC
से तीनों roles। IT Act 66C: 3 वर्ष कारावास।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9C3"/>
                </a:solidFill>
              </a:rPr>
              <a:t>No XEN has logged into IFMS. Their DSC (Digital Signature Certificates) are
kept at market computer centres. Operator signs as Maker, Checker AND Approver
using XEN's DSC. IT Act 66C: using another person's digital identity = 3 years
imprisonment. This crime occurs daily in government offices across Rajasthan.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34440"/>
            <a:ext cx="27432" cy="5120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47382"/>
                </a:solidFill>
              </a:rPr>
              <a:t>Slide 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4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Ch.7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9728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1 August 2026 — 4 Documented Bugs — Official Complaint Unanswered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612648"/>
            <a:ext cx="10424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0C8DC"/>
                </a:solidFill>
              </a:rPr>
              <a:t>1 August 2026 — Portal Status: 4 Documented Bugs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33856"/>
            <a:ext cx="11640312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AE0E6"/>
                </a:solidFill>
              </a:rPr>
              <a:t>Complaint email: employeehelpdesk.ifms@rajasthan.gov.in — कोई reply नहीं। Bug
1: Vendor list अधूरी। Bug 2: Security Refund balance absent। Bug 3: July
Report non-responsive। Bug 4: Disbursement Engine blank।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9C3"/>
                </a:solidFill>
              </a:rPr>
              <a:t>Official complaint to employeehelpdesk.ifms@rajasthan.gov.in — no reply. Bug
1: Vendor selection list incomplete, not alphabetical. Bug 2: Security Refund
balance not showing. Bug 3: July Monthly Report section non-responsive. Bug 4:
Disbursement Engine WAM page completely blank.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34440"/>
            <a:ext cx="27432" cy="5120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47382"/>
                </a:solidFill>
              </a:rPr>
              <a:t>Slide 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9728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IFMS Helpline — संपर्क नहीं, समाधान नहीं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612648"/>
            <a:ext cx="10424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0C8DC"/>
                </a:solidFill>
              </a:rPr>
              <a:t>IFMS Helpline — No Contact, No 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33856"/>
            <a:ext cx="11640312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AE0E6"/>
                </a:solidFill>
              </a:rPr>
              <a:t>Helpline numbers non-responsive। Email silent। NIC support ठप। Escalation
matrix नहीं। Officers WhatsApp groups पर।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9C3"/>
                </a:solidFill>
              </a:rPr>
              <a:t>All helpline numbers non-responsive. Official email
employeehelpdesk.ifms@rajasthan.gov.in silent — formal complaint with 4 bugs +
screenshots sent, zero reply. NIC support desk non-functional. No escalation
matrix. No dedicated 24x7 line. Officers resort to WhatsApp groups.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34440"/>
            <a:ext cx="27432" cy="5120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47382"/>
                </a:solidFill>
              </a:rPr>
              <a:t>Slide 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Ch.8B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9728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~200 रद्द अनुबंध — वसूली शून्य: नामित ठेकेदार बेखौफ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612648"/>
            <a:ext cx="10424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0C8DC"/>
                </a:solidFill>
              </a:rPr>
              <a:t>~200 Rescinded Contracts — Zero Recovery: Named Defaulters Walk Free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33856"/>
            <a:ext cx="11640312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AE0E6"/>
                </a:solidFill>
              </a:rPr>
              <a:t>तीन नामित मामले: (1) भैरवजी Bridge, बाँसवाड़ा — rescinded, वसूली शून्य। (2)
Kotada Road, उदयपुर — rescinded, cost unrecovered। (3) Gannon Dunkerlay —
established company, walked free। ~200 rescissions — zero monitoring।
Rescission = कागज़ी खतरा।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9C3"/>
                </a:solidFill>
              </a:rPr>
              <a:t>Three named cases: (1) Bhairavji Bridge, Banswara — rescinded, risk-and-cost
tender floated, ZERO recovery. (2) Kotada Road, Udaipur — rescinded,
differential cost UNRECOVERED. (3) Gannon Dunkerlay &amp; Co — large established
firm, contract rescinded, substantial dues UNEXERCISED, company walked free.
Statewide pattern: ~200 rescissions, zero systematic recovery monitoring.
Rescission is a paper threat, not a financial 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34440"/>
            <a:ext cx="27432" cy="5120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47382"/>
                </a:solidFill>
              </a:rPr>
              <a:t>Slide 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Ch.8C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9728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Recovery Portal क्यों नहीं? Legal Pursuit क्यों नहीं? — Impunity का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612648"/>
            <a:ext cx="10424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0C8DC"/>
                </a:solidFill>
              </a:rPr>
              <a:t>Why No Recovery Portal? Why No Legal Pursuit? — Architecture of Impunity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33856"/>
            <a:ext cx="11640312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AE0E6"/>
                </a:solidFill>
              </a:rPr>
              <a:t>Q1: Recovery Portal 15 वर्षों में क्यों नहीं? क्योंकि visibility =
accountability — जिससे system बचता है। Q2: Legal pursuit क्यों नहीं?
Negligence या Complicity — जिस हाथ ने payments किए वही recovery रोक रहा है।
Limitation periods expire हो रहे हैं। 5-point framework: Portal 90 days; Legal
notice 30 days; Litigation register; Limitation alerts; Same-officer = ACB
referral।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9C3"/>
                </a:solidFill>
              </a:rPr>
              <a:t>Q1: Why no Digitised Recovery Portal despite 15 years of digital
infrastructure? Because it would make every non-recovery visible and
attributable to a named officer — exactly what the system avoids. Q2: Why no
legal pursuit? Two explanations: Gross Negligence OR Complicity — the same
officer who processed payments refuses to initiate recovery. Limitation
periods are expiring unnoticed. Five-point framework: (A) Recovery Portal on
IFMS in 90 days; (B) Legal notice within 30 days of rescission; (C) Litigation
Register monthly updated; (D) Limitation period auto-alerts; (E) Same-officer
overlap = automatic ACB referral.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34440"/>
            <a:ext cx="27432" cy="5120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47382"/>
                </a:solidFill>
              </a:rPr>
              <a:t>Slide 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9728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सात तत्काल माँगें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612648"/>
            <a:ext cx="10424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0C8DC"/>
                </a:solidFill>
              </a:rPr>
              <a:t>Seven Immediate Reforms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33856"/>
            <a:ext cx="11640312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AE0E6"/>
                </a:solidFill>
              </a:rPr>
              <a:t>1.Statutory Delegation Gazette Notification। 2.Citizen Transparency। 3.DSC
अधिकारी के पास। 4.Mandatory Training। 5.Portal bugs deadline fix। 6.24×7
Helpline। 7.Independent Monitoring Committee।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9C3"/>
                </a:solidFill>
              </a:rPr>
              <a:t>1.Statutory Delegation Gazette Notification. 2.Citizen Transparency portal.
3.DSC with officer only — computer centre = IT Act offence. 4.Mandatory
training before portal access. 5.Portal bugs fixed with deadline — NIC
accountable. 6.24x7 dedicated helpline + working email. 7.Independent
Monitoring Committee.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34440"/>
            <a:ext cx="27432" cy="5120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47382"/>
                </a:solidFill>
              </a:rPr>
              <a:t>Slide 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716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Ch.10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9728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दस मीडिया माँगें — चौथे स्तंभ से आह्वान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612648"/>
            <a:ext cx="10424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0C8DC"/>
                </a:solidFill>
              </a:rPr>
              <a:t>Ten Media Demands — Call to the Fourth Estate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33856"/>
            <a:ext cx="11640312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AE0E6"/>
                </a:solidFill>
              </a:rPr>
              <a:t>1.Delegation RTI। 2.AS/FS Backdating CAG Audit। 3.IP Login Audit→ACB। 4.XEN
Login Sting। 5.DSC Location Check। 6.Live Helpline Test। 7.Morphed Photo
Expose। 8.Public Audit। 9.One Operator Three Roles। 10.Recovery RTI।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8B9C3"/>
                </a:solidFill>
              </a:rPr>
              <a:t>1.RTI on delegation circular. 2.AS/FS backdating CAG audit. 3.IP Login Audit →
ACB. 4.XEN Login sting. 5.DSC location live check. 6.Helpline live call test.
7.Morphed photo expose. 8.IFMS public audit. 9.One operator three roles
expose. 10.Rescinded contracts recovery RTI.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34440"/>
            <a:ext cx="27432" cy="5120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4922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47382"/>
                </a:solidFill>
              </a:rPr>
              <a:t>Slide 17 /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F1D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F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</a:rPr>
              <a:t>🚨  ACT NOW  —  अभी कार्रवाई करें  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C8C8"/>
                </a:solidFill>
              </a:rPr>
              <a:t>RTI FILE करें  •  CAG Audit माँगें  •  ACB को सूचित करें  •  Recovery Portal माँगें
File RTI  •  Demand CAG Audit  •  Alert ACB  •  Demand Recovery Portal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</a:rPr>
              <a:t>"जब तक system की monitoring नहीं होगी —
जनता का पैसा डूबता रहेगा।
"Recovery Portal बनाना 90 दिन का काम था।
15 वर्ष में नहीं बना — यह negligence नहीं,
यह impunity का architecture है।"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89696"/>
                </a:solidFill>
              </a:rPr>
              <a:t>जन संवाददाता  |  6 August 2026  |  Public Interest Investigation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